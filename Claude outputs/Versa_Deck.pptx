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33F"/>
        </a:solidFill>
      </p:bgPr>
    </p:bg>
    <p:spTree>
      <p:nvGrpSpPr>
        <p:cNvPr id="1" name=""/>
        <p:cNvGrpSpPr/>
        <p:nvPr/>
      </p:nvGrpSpPr>
      <p:grpSpPr>
        <a:xfrm>
          <a:off x="0" y="0"/>
          <a:ext cx="0" cy="0"/>
          <a:chOff x="0" y="0"/>
          <a:chExt cx="0" cy="0"/>
        </a:xfrm>
      </p:grpSpPr>
      <p:sp>
        <p:nvSpPr>
          <p:cNvPr id="2" name="Shape 0"/>
          <p:cNvSpPr/>
          <p:nvPr/>
        </p:nvSpPr>
        <p:spPr>
          <a:xfrm>
            <a:off x="548640" y="1965960"/>
            <a:ext cx="256032" cy="256032"/>
          </a:xfrm>
          <a:prstGeom prst="ellipse">
            <a:avLst/>
          </a:prstGeom>
          <a:solidFill>
            <a:srgbClr val="1FA9A0"/>
          </a:solidFill>
          <a:ln/>
        </p:spPr>
      </p:sp>
      <p:sp>
        <p:nvSpPr>
          <p:cNvPr id="3" name="Text 1"/>
          <p:cNvSpPr txBox="1"/>
          <p:nvPr/>
        </p:nvSpPr>
        <p:spPr>
          <a:xfrm>
            <a:off x="960120" y="1874520"/>
            <a:ext cx="7315200" cy="457200"/>
          </a:xfrm>
          <a:prstGeom prst="rect">
            <a:avLst/>
          </a:prstGeom>
          <a:noFill/>
          <a:ln/>
        </p:spPr>
        <p:txBody>
          <a:bodyPr wrap="square" lIns="0" tIns="0" rIns="0" bIns="0" rtlCol="0" anchor="ctr"/>
          <a:lstStyle/>
          <a:p>
            <a:pPr indent="0" marL="0">
              <a:buNone/>
            </a:pPr>
            <a:r>
              <a:rPr lang="en-US" sz="1300" b="1" spc="300" kern="0" dirty="0">
                <a:solidFill>
                  <a:srgbClr val="9FB2C9"/>
                </a:solidFill>
                <a:latin typeface="Calibri" pitchFamily="34" charset="0"/>
                <a:ea typeface="Calibri" pitchFamily="34" charset="-122"/>
                <a:cs typeface="Calibri" pitchFamily="34" charset="-120"/>
              </a:rPr>
              <a:t>AI BUILDERS HACKATHON  ·  SUBMISSION</a:t>
            </a:r>
            <a:endParaRPr lang="en-US" sz="1300" dirty="0"/>
          </a:p>
        </p:txBody>
      </p:sp>
      <p:sp>
        <p:nvSpPr>
          <p:cNvPr id="4" name="Text 2"/>
          <p:cNvSpPr txBox="1"/>
          <p:nvPr/>
        </p:nvSpPr>
        <p:spPr>
          <a:xfrm>
            <a:off x="548640" y="2468880"/>
            <a:ext cx="10058400" cy="1371600"/>
          </a:xfrm>
          <a:prstGeom prst="rect">
            <a:avLst/>
          </a:prstGeom>
          <a:noFill/>
          <a:ln/>
        </p:spPr>
        <p:txBody>
          <a:bodyPr wrap="square" lIns="0" tIns="0" rIns="0" bIns="0" rtlCol="0" anchor="ctr"/>
          <a:lstStyle/>
          <a:p>
            <a:pPr indent="0" marL="0">
              <a:buNone/>
            </a:pPr>
            <a:r>
              <a:rPr lang="en-US" sz="9600" b="1" dirty="0">
                <a:solidFill>
                  <a:srgbClr val="FFFFFF"/>
                </a:solidFill>
                <a:latin typeface="Calibri" pitchFamily="34" charset="0"/>
                <a:ea typeface="Calibri" pitchFamily="34" charset="-122"/>
                <a:cs typeface="Calibri" pitchFamily="34" charset="-120"/>
              </a:rPr>
              <a:t>Versa</a:t>
            </a:r>
            <a:endParaRPr lang="en-US" sz="9600" dirty="0"/>
          </a:p>
        </p:txBody>
      </p:sp>
      <p:sp>
        <p:nvSpPr>
          <p:cNvPr id="5" name="Text 3"/>
          <p:cNvSpPr txBox="1"/>
          <p:nvPr/>
        </p:nvSpPr>
        <p:spPr>
          <a:xfrm>
            <a:off x="548640" y="3886200"/>
            <a:ext cx="10058400" cy="731520"/>
          </a:xfrm>
          <a:prstGeom prst="rect">
            <a:avLst/>
          </a:prstGeom>
          <a:noFill/>
          <a:ln/>
        </p:spPr>
        <p:txBody>
          <a:bodyPr wrap="square" lIns="0" tIns="0" rIns="0" bIns="0" rtlCol="0" anchor="ctr"/>
          <a:lstStyle/>
          <a:p>
            <a:pPr indent="0" marL="0">
              <a:buNone/>
            </a:pPr>
            <a:r>
              <a:rPr lang="en-US" sz="2800" dirty="0">
                <a:solidFill>
                  <a:srgbClr val="1FA9A0"/>
                </a:solidFill>
                <a:latin typeface="Calibri" pitchFamily="34" charset="0"/>
                <a:ea typeface="Calibri" pitchFamily="34" charset="-122"/>
                <a:cs typeface="Calibri" pitchFamily="34" charset="-120"/>
              </a:rPr>
              <a:t>The AI tutor that refuses to guess.</a:t>
            </a:r>
            <a:endParaRPr lang="en-US" sz="2800" dirty="0"/>
          </a:p>
        </p:txBody>
      </p:sp>
      <p:sp>
        <p:nvSpPr>
          <p:cNvPr id="6" name="Text 4"/>
          <p:cNvSpPr txBox="1"/>
          <p:nvPr/>
        </p:nvSpPr>
        <p:spPr>
          <a:xfrm>
            <a:off x="548640" y="4709160"/>
            <a:ext cx="10058400" cy="914400"/>
          </a:xfrm>
          <a:prstGeom prst="rect">
            <a:avLst/>
          </a:prstGeom>
          <a:noFill/>
          <a:ln/>
        </p:spPr>
        <p:txBody>
          <a:bodyPr wrap="square" lIns="0" tIns="0" rIns="0" bIns="0" rtlCol="0" anchor="ctr"/>
          <a:lstStyle/>
          <a:p>
            <a:pPr indent="0" marL="0">
              <a:lnSpc>
                <a:spcPct val="125000"/>
              </a:lnSpc>
              <a:buNone/>
            </a:pPr>
            <a:r>
              <a:rPr lang="en-US" sz="1500" dirty="0">
                <a:solidFill>
                  <a:srgbClr val="C7D3E2"/>
                </a:solidFill>
                <a:latin typeface="Calibri" pitchFamily="34" charset="0"/>
                <a:ea typeface="Calibri" pitchFamily="34" charset="-122"/>
                <a:cs typeface="Calibri" pitchFamily="34" charset="-120"/>
              </a:rPr>
              <a:t>It catches what's unclear, asks one sharp question, and remembers how you think —</a:t>
            </a:r>
            <a:endParaRPr lang="en-US" sz="1500" dirty="0"/>
          </a:p>
          <a:p>
            <a:pPr indent="0" marL="0">
              <a:lnSpc>
                <a:spcPct val="125000"/>
              </a:lnSpc>
              <a:buNone/>
            </a:pPr>
            <a:r>
              <a:rPr lang="en-US" sz="1500" dirty="0">
                <a:solidFill>
                  <a:srgbClr val="C7D3E2"/>
                </a:solidFill>
                <a:latin typeface="Calibri" pitchFamily="34" charset="0"/>
                <a:ea typeface="Calibri" pitchFamily="34" charset="-122"/>
                <a:cs typeface="Calibri" pitchFamily="34" charset="-120"/>
              </a:rPr>
              <a:t>so it never makes the same wrong assumption twice.</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502920"/>
            <a:ext cx="7315200" cy="320040"/>
          </a:xfrm>
          <a:prstGeom prst="rect">
            <a:avLst/>
          </a:prstGeom>
          <a:noFill/>
          <a:ln/>
        </p:spPr>
        <p:txBody>
          <a:bodyPr wrap="square" lIns="0" tIns="0" rIns="0" bIns="0" rtlCol="0" anchor="ctr"/>
          <a:lstStyle/>
          <a:p>
            <a:pPr algn="l" indent="0" marL="0">
              <a:buNone/>
            </a:pPr>
            <a:r>
              <a:rPr lang="en-US" sz="1200" b="1" spc="300" kern="0" dirty="0">
                <a:solidFill>
                  <a:srgbClr val="1FA9A0"/>
                </a:solidFill>
                <a:latin typeface="Calibri" pitchFamily="34" charset="0"/>
                <a:ea typeface="Calibri" pitchFamily="34" charset="-122"/>
                <a:cs typeface="Calibri" pitchFamily="34" charset="-120"/>
              </a:rPr>
              <a:t>PROBLEM STATEMENT</a:t>
            </a:r>
            <a:endParaRPr lang="en-US" sz="1200" dirty="0"/>
          </a:p>
        </p:txBody>
      </p:sp>
      <p:sp>
        <p:nvSpPr>
          <p:cNvPr id="3" name="Text 1"/>
          <p:cNvSpPr txBox="1"/>
          <p:nvPr/>
        </p:nvSpPr>
        <p:spPr>
          <a:xfrm>
            <a:off x="548640" y="822960"/>
            <a:ext cx="11091672" cy="822960"/>
          </a:xfrm>
          <a:prstGeom prst="rect">
            <a:avLst/>
          </a:prstGeom>
          <a:noFill/>
          <a:ln/>
        </p:spPr>
        <p:txBody>
          <a:bodyPr wrap="square" lIns="0" tIns="0" rIns="0" bIns="0" rtlCol="0" anchor="ctr"/>
          <a:lstStyle/>
          <a:p>
            <a:pPr algn="l" indent="0" marL="0">
              <a:buNone/>
            </a:pPr>
            <a:r>
              <a:rPr lang="en-US" sz="3400" b="1" dirty="0">
                <a:solidFill>
                  <a:srgbClr val="12233F"/>
                </a:solidFill>
                <a:latin typeface="Calibri" pitchFamily="34" charset="0"/>
                <a:ea typeface="Calibri" pitchFamily="34" charset="-122"/>
                <a:cs typeface="Calibri" pitchFamily="34" charset="-120"/>
              </a:rPr>
              <a:t>Every AI tutor guesses what you meant</a:t>
            </a:r>
            <a:endParaRPr lang="en-US" sz="3400" dirty="0"/>
          </a:p>
        </p:txBody>
      </p:sp>
      <p:sp>
        <p:nvSpPr>
          <p:cNvPr id="4" name="Text 2"/>
          <p:cNvSpPr txBox="1"/>
          <p:nvPr/>
        </p:nvSpPr>
        <p:spPr>
          <a:xfrm>
            <a:off x="548640" y="1783080"/>
            <a:ext cx="5852160" cy="2011680"/>
          </a:xfrm>
          <a:prstGeom prst="rect">
            <a:avLst/>
          </a:prstGeom>
          <a:noFill/>
          <a:ln/>
        </p:spPr>
        <p:txBody>
          <a:bodyPr wrap="square" lIns="0" tIns="0" rIns="0" bIns="0" rtlCol="0" anchor="t"/>
          <a:lstStyle/>
          <a:p>
            <a:pPr indent="0" marL="0">
              <a:lnSpc>
                <a:spcPct val="130000"/>
              </a:lnSpc>
              <a:buNone/>
            </a:pPr>
            <a:r>
              <a:rPr lang="en-US" sz="1550" dirty="0">
                <a:solidFill>
                  <a:srgbClr val="1E2A3A"/>
                </a:solidFill>
                <a:latin typeface="Calibri" pitchFamily="34" charset="0"/>
                <a:ea typeface="Calibri" pitchFamily="34" charset="-122"/>
                <a:cs typeface="Calibri" pitchFamily="34" charset="-120"/>
              </a:rPr>
              <a:t>When a student's question is ambiguous, most AI tutors silently assume an interpretation and confidently answer the wrong thing. The mistaken assumption isn't visible until the student has already read paragraphs of help that don't fit — and the tutor forgets the whole exchange the moment it ends.</a:t>
            </a:r>
            <a:endParaRPr lang="en-US" sz="1550" dirty="0"/>
          </a:p>
        </p:txBody>
      </p:sp>
      <p:sp>
        <p:nvSpPr>
          <p:cNvPr id="5" name="Shape 3"/>
          <p:cNvSpPr/>
          <p:nvPr/>
        </p:nvSpPr>
        <p:spPr>
          <a:xfrm>
            <a:off x="6720840" y="1783080"/>
            <a:ext cx="4892040" cy="1051560"/>
          </a:xfrm>
          <a:prstGeom prst="roundRect">
            <a:avLst>
              <a:gd name="adj" fmla="val 7826"/>
            </a:avLst>
          </a:prstGeom>
          <a:solidFill>
            <a:srgbClr val="F2F5F9"/>
          </a:solidFill>
          <a:ln w="12700">
            <a:solidFill>
              <a:srgbClr val="DFE6EE"/>
            </a:solidFill>
            <a:prstDash val="solid"/>
          </a:ln>
        </p:spPr>
      </p:sp>
      <p:sp>
        <p:nvSpPr>
          <p:cNvPr id="6" name="Shape 4"/>
          <p:cNvSpPr/>
          <p:nvPr/>
        </p:nvSpPr>
        <p:spPr>
          <a:xfrm>
            <a:off x="6976872" y="2075688"/>
            <a:ext cx="457200" cy="457200"/>
          </a:xfrm>
          <a:prstGeom prst="ellipse">
            <a:avLst/>
          </a:prstGeom>
          <a:solidFill>
            <a:srgbClr val="1C3A5E"/>
          </a:solidFill>
          <a:ln/>
        </p:spPr>
      </p:sp>
      <p:sp>
        <p:nvSpPr>
          <p:cNvPr id="7" name="Text 5"/>
          <p:cNvSpPr txBox="1"/>
          <p:nvPr/>
        </p:nvSpPr>
        <p:spPr>
          <a:xfrm>
            <a:off x="6976872" y="207568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8" name="Text 6"/>
          <p:cNvSpPr txBox="1"/>
          <p:nvPr/>
        </p:nvSpPr>
        <p:spPr>
          <a:xfrm>
            <a:off x="7635240" y="1929384"/>
            <a:ext cx="3794760" cy="365760"/>
          </a:xfrm>
          <a:prstGeom prst="rect">
            <a:avLst/>
          </a:prstGeom>
          <a:noFill/>
          <a:ln/>
        </p:spPr>
        <p:txBody>
          <a:bodyPr wrap="square" lIns="0" tIns="0" rIns="0" bIns="0" rtlCol="0" anchor="ctr"/>
          <a:lstStyle/>
          <a:p>
            <a:pPr indent="0" marL="0">
              <a:buNone/>
            </a:pPr>
            <a:r>
              <a:rPr lang="en-US" sz="1600" b="1" dirty="0">
                <a:solidFill>
                  <a:srgbClr val="12233F"/>
                </a:solidFill>
                <a:latin typeface="Calibri" pitchFamily="34" charset="0"/>
                <a:ea typeface="Calibri" pitchFamily="34" charset="-122"/>
                <a:cs typeface="Calibri" pitchFamily="34" charset="-120"/>
              </a:rPr>
              <a:t>Ambiguity ignored</a:t>
            </a:r>
            <a:endParaRPr lang="en-US" sz="1600" dirty="0"/>
          </a:p>
        </p:txBody>
      </p:sp>
      <p:sp>
        <p:nvSpPr>
          <p:cNvPr id="9" name="Text 7"/>
          <p:cNvSpPr txBox="1"/>
          <p:nvPr/>
        </p:nvSpPr>
        <p:spPr>
          <a:xfrm>
            <a:off x="7635240" y="2295144"/>
            <a:ext cx="3794760" cy="457200"/>
          </a:xfrm>
          <a:prstGeom prst="rect">
            <a:avLst/>
          </a:prstGeom>
          <a:noFill/>
          <a:ln/>
        </p:spPr>
        <p:txBody>
          <a:bodyPr wrap="square" lIns="0" tIns="0" rIns="0" bIns="0" rtlCol="0" anchor="ctr"/>
          <a:lstStyle/>
          <a:p>
            <a:pPr indent="0" marL="0">
              <a:buNone/>
            </a:pPr>
            <a:r>
              <a:rPr lang="en-US" sz="1250" dirty="0">
                <a:solidFill>
                  <a:srgbClr val="6B7A8D"/>
                </a:solidFill>
                <a:latin typeface="Calibri" pitchFamily="34" charset="0"/>
                <a:ea typeface="Calibri" pitchFamily="34" charset="-122"/>
                <a:cs typeface="Calibri" pitchFamily="34" charset="-120"/>
              </a:rPr>
              <a:t>Unclear questions are answered as if they were clear.</a:t>
            </a:r>
            <a:endParaRPr lang="en-US" sz="1250" dirty="0"/>
          </a:p>
        </p:txBody>
      </p:sp>
      <p:sp>
        <p:nvSpPr>
          <p:cNvPr id="10" name="Shape 8"/>
          <p:cNvSpPr/>
          <p:nvPr/>
        </p:nvSpPr>
        <p:spPr>
          <a:xfrm>
            <a:off x="6720840" y="3090672"/>
            <a:ext cx="4892040" cy="1051560"/>
          </a:xfrm>
          <a:prstGeom prst="roundRect">
            <a:avLst>
              <a:gd name="adj" fmla="val 7826"/>
            </a:avLst>
          </a:prstGeom>
          <a:solidFill>
            <a:srgbClr val="F2F5F9"/>
          </a:solidFill>
          <a:ln w="12700">
            <a:solidFill>
              <a:srgbClr val="DFE6EE"/>
            </a:solidFill>
            <a:prstDash val="solid"/>
          </a:ln>
        </p:spPr>
      </p:sp>
      <p:sp>
        <p:nvSpPr>
          <p:cNvPr id="11" name="Shape 9"/>
          <p:cNvSpPr/>
          <p:nvPr/>
        </p:nvSpPr>
        <p:spPr>
          <a:xfrm>
            <a:off x="6976872" y="3383280"/>
            <a:ext cx="457200" cy="457200"/>
          </a:xfrm>
          <a:prstGeom prst="ellipse">
            <a:avLst/>
          </a:prstGeom>
          <a:solidFill>
            <a:srgbClr val="1FA9A0"/>
          </a:solidFill>
          <a:ln/>
        </p:spPr>
      </p:sp>
      <p:sp>
        <p:nvSpPr>
          <p:cNvPr id="12" name="Text 10"/>
          <p:cNvSpPr txBox="1"/>
          <p:nvPr/>
        </p:nvSpPr>
        <p:spPr>
          <a:xfrm>
            <a:off x="6976872" y="33832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3" name="Text 11"/>
          <p:cNvSpPr txBox="1"/>
          <p:nvPr/>
        </p:nvSpPr>
        <p:spPr>
          <a:xfrm>
            <a:off x="7635240" y="3236976"/>
            <a:ext cx="3794760" cy="365760"/>
          </a:xfrm>
          <a:prstGeom prst="rect">
            <a:avLst/>
          </a:prstGeom>
          <a:noFill/>
          <a:ln/>
        </p:spPr>
        <p:txBody>
          <a:bodyPr wrap="square" lIns="0" tIns="0" rIns="0" bIns="0" rtlCol="0" anchor="ctr"/>
          <a:lstStyle/>
          <a:p>
            <a:pPr indent="0" marL="0">
              <a:buNone/>
            </a:pPr>
            <a:r>
              <a:rPr lang="en-US" sz="1600" b="1" dirty="0">
                <a:solidFill>
                  <a:srgbClr val="12233F"/>
                </a:solidFill>
                <a:latin typeface="Calibri" pitchFamily="34" charset="0"/>
                <a:ea typeface="Calibri" pitchFamily="34" charset="-122"/>
                <a:cs typeface="Calibri" pitchFamily="34" charset="-120"/>
              </a:rPr>
              <a:t>Wrong assumptions</a:t>
            </a:r>
            <a:endParaRPr lang="en-US" sz="1600" dirty="0"/>
          </a:p>
        </p:txBody>
      </p:sp>
      <p:sp>
        <p:nvSpPr>
          <p:cNvPr id="14" name="Text 12"/>
          <p:cNvSpPr txBox="1"/>
          <p:nvPr/>
        </p:nvSpPr>
        <p:spPr>
          <a:xfrm>
            <a:off x="7635240" y="3602736"/>
            <a:ext cx="3794760" cy="457200"/>
          </a:xfrm>
          <a:prstGeom prst="rect">
            <a:avLst/>
          </a:prstGeom>
          <a:noFill/>
          <a:ln/>
        </p:spPr>
        <p:txBody>
          <a:bodyPr wrap="square" lIns="0" tIns="0" rIns="0" bIns="0" rtlCol="0" anchor="ctr"/>
          <a:lstStyle/>
          <a:p>
            <a:pPr indent="0" marL="0">
              <a:buNone/>
            </a:pPr>
            <a:r>
              <a:rPr lang="en-US" sz="1250" dirty="0">
                <a:solidFill>
                  <a:srgbClr val="6B7A8D"/>
                </a:solidFill>
                <a:latin typeface="Calibri" pitchFamily="34" charset="0"/>
                <a:ea typeface="Calibri" pitchFamily="34" charset="-122"/>
                <a:cs typeface="Calibri" pitchFamily="34" charset="-120"/>
              </a:rPr>
              <a:t>One bad guess wastes an entire response.</a:t>
            </a:r>
            <a:endParaRPr lang="en-US" sz="1250" dirty="0"/>
          </a:p>
        </p:txBody>
      </p:sp>
      <p:sp>
        <p:nvSpPr>
          <p:cNvPr id="15" name="Shape 13"/>
          <p:cNvSpPr/>
          <p:nvPr/>
        </p:nvSpPr>
        <p:spPr>
          <a:xfrm>
            <a:off x="6720840" y="4398264"/>
            <a:ext cx="4892040" cy="1051560"/>
          </a:xfrm>
          <a:prstGeom prst="roundRect">
            <a:avLst>
              <a:gd name="adj" fmla="val 7826"/>
            </a:avLst>
          </a:prstGeom>
          <a:solidFill>
            <a:srgbClr val="F2F5F9"/>
          </a:solidFill>
          <a:ln w="12700">
            <a:solidFill>
              <a:srgbClr val="DFE6EE"/>
            </a:solidFill>
            <a:prstDash val="solid"/>
          </a:ln>
        </p:spPr>
      </p:sp>
      <p:sp>
        <p:nvSpPr>
          <p:cNvPr id="16" name="Shape 14"/>
          <p:cNvSpPr/>
          <p:nvPr/>
        </p:nvSpPr>
        <p:spPr>
          <a:xfrm>
            <a:off x="6976872" y="4690872"/>
            <a:ext cx="457200" cy="457200"/>
          </a:xfrm>
          <a:prstGeom prst="ellipse">
            <a:avLst/>
          </a:prstGeom>
          <a:solidFill>
            <a:srgbClr val="1C3A5E"/>
          </a:solidFill>
          <a:ln/>
        </p:spPr>
      </p:sp>
      <p:sp>
        <p:nvSpPr>
          <p:cNvPr id="17" name="Text 15"/>
          <p:cNvSpPr txBox="1"/>
          <p:nvPr/>
        </p:nvSpPr>
        <p:spPr>
          <a:xfrm>
            <a:off x="6976872" y="469087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8" name="Text 16"/>
          <p:cNvSpPr txBox="1"/>
          <p:nvPr/>
        </p:nvSpPr>
        <p:spPr>
          <a:xfrm>
            <a:off x="7635240" y="4544568"/>
            <a:ext cx="3794760" cy="365760"/>
          </a:xfrm>
          <a:prstGeom prst="rect">
            <a:avLst/>
          </a:prstGeom>
          <a:noFill/>
          <a:ln/>
        </p:spPr>
        <p:txBody>
          <a:bodyPr wrap="square" lIns="0" tIns="0" rIns="0" bIns="0" rtlCol="0" anchor="ctr"/>
          <a:lstStyle/>
          <a:p>
            <a:pPr indent="0" marL="0">
              <a:buNone/>
            </a:pPr>
            <a:r>
              <a:rPr lang="en-US" sz="1600" b="1" dirty="0">
                <a:solidFill>
                  <a:srgbClr val="12233F"/>
                </a:solidFill>
                <a:latin typeface="Calibri" pitchFamily="34" charset="0"/>
                <a:ea typeface="Calibri" pitchFamily="34" charset="-122"/>
                <a:cs typeface="Calibri" pitchFamily="34" charset="-120"/>
              </a:rPr>
              <a:t>No memory</a:t>
            </a:r>
            <a:endParaRPr lang="en-US" sz="1600" dirty="0"/>
          </a:p>
        </p:txBody>
      </p:sp>
      <p:sp>
        <p:nvSpPr>
          <p:cNvPr id="19" name="Text 17"/>
          <p:cNvSpPr txBox="1"/>
          <p:nvPr/>
        </p:nvSpPr>
        <p:spPr>
          <a:xfrm>
            <a:off x="7635240" y="4910328"/>
            <a:ext cx="3794760" cy="457200"/>
          </a:xfrm>
          <a:prstGeom prst="rect">
            <a:avLst/>
          </a:prstGeom>
          <a:noFill/>
          <a:ln/>
        </p:spPr>
        <p:txBody>
          <a:bodyPr wrap="square" lIns="0" tIns="0" rIns="0" bIns="0" rtlCol="0" anchor="ctr"/>
          <a:lstStyle/>
          <a:p>
            <a:pPr indent="0" marL="0">
              <a:buNone/>
            </a:pPr>
            <a:r>
              <a:rPr lang="en-US" sz="1250" dirty="0">
                <a:solidFill>
                  <a:srgbClr val="6B7A8D"/>
                </a:solidFill>
                <a:latin typeface="Calibri" pitchFamily="34" charset="0"/>
                <a:ea typeface="Calibri" pitchFamily="34" charset="-122"/>
                <a:cs typeface="Calibri" pitchFamily="34" charset="-120"/>
              </a:rPr>
              <a:t>Every session starts from zero — the same confusion recurs.</a:t>
            </a:r>
            <a:endParaRPr lang="en-US" sz="1250" dirty="0"/>
          </a:p>
        </p:txBody>
      </p:sp>
      <p:sp>
        <p:nvSpPr>
          <p:cNvPr id="20" name="Shape 18"/>
          <p:cNvSpPr/>
          <p:nvPr/>
        </p:nvSpPr>
        <p:spPr>
          <a:xfrm>
            <a:off x="548640" y="4114800"/>
            <a:ext cx="5852160" cy="1417320"/>
          </a:xfrm>
          <a:prstGeom prst="roundRect">
            <a:avLst>
              <a:gd name="adj" fmla="val 6452"/>
            </a:avLst>
          </a:prstGeom>
          <a:solidFill>
            <a:srgbClr val="12233F"/>
          </a:solidFill>
          <a:ln/>
        </p:spPr>
      </p:sp>
      <p:sp>
        <p:nvSpPr>
          <p:cNvPr id="21" name="Text 19"/>
          <p:cNvSpPr txBox="1"/>
          <p:nvPr/>
        </p:nvSpPr>
        <p:spPr>
          <a:xfrm>
            <a:off x="822960" y="4224528"/>
            <a:ext cx="1463040" cy="1188720"/>
          </a:xfrm>
          <a:prstGeom prst="rect">
            <a:avLst/>
          </a:prstGeom>
          <a:noFill/>
          <a:ln/>
        </p:spPr>
        <p:txBody>
          <a:bodyPr wrap="square" lIns="0" tIns="0" rIns="0" bIns="0" rtlCol="0" anchor="ctr"/>
          <a:lstStyle/>
          <a:p>
            <a:pPr algn="ctr" indent="0" marL="0">
              <a:buNone/>
            </a:pPr>
            <a:r>
              <a:rPr lang="en-US" sz="6600" b="1" dirty="0">
                <a:solidFill>
                  <a:srgbClr val="1FA9A0"/>
                </a:solidFill>
                <a:latin typeface="Calibri" pitchFamily="34" charset="0"/>
                <a:ea typeface="Calibri" pitchFamily="34" charset="-122"/>
                <a:cs typeface="Calibri" pitchFamily="34" charset="-120"/>
              </a:rPr>
              <a:t>1</a:t>
            </a:r>
            <a:endParaRPr lang="en-US" sz="6600" dirty="0"/>
          </a:p>
        </p:txBody>
      </p:sp>
      <p:sp>
        <p:nvSpPr>
          <p:cNvPr id="22" name="Text 20"/>
          <p:cNvSpPr txBox="1"/>
          <p:nvPr/>
        </p:nvSpPr>
        <p:spPr>
          <a:xfrm>
            <a:off x="2377440" y="4224528"/>
            <a:ext cx="3840480" cy="1188720"/>
          </a:xfrm>
          <a:prstGeom prst="rect">
            <a:avLst/>
          </a:prstGeom>
          <a:noFill/>
          <a:ln/>
        </p:spPr>
        <p:txBody>
          <a:bodyPr wrap="square" lIns="0" tIns="0" rIns="0" bIns="0" rtlCol="0" anchor="ctr"/>
          <a:lstStyle/>
          <a:p>
            <a:pPr indent="0" marL="0">
              <a:lnSpc>
                <a:spcPct val="115000"/>
              </a:lnSpc>
              <a:buNone/>
            </a:pPr>
            <a:r>
              <a:rPr lang="en-US" sz="1700" b="1" dirty="0">
                <a:solidFill>
                  <a:srgbClr val="FFFFFF"/>
                </a:solidFill>
                <a:latin typeface="Calibri" pitchFamily="34" charset="0"/>
                <a:ea typeface="Calibri" pitchFamily="34" charset="-122"/>
                <a:cs typeface="Calibri" pitchFamily="34" charset="-120"/>
              </a:rPr>
              <a:t>wrong assumption
</a:t>
            </a:r>
            <a:pPr indent="0" marL="0">
              <a:lnSpc>
                <a:spcPct val="115000"/>
              </a:lnSpc>
              <a:buNone/>
            </a:pPr>
            <a:r>
              <a:rPr lang="en-US" sz="1350" dirty="0">
                <a:solidFill>
                  <a:srgbClr val="C7D3E2"/>
                </a:solidFill>
                <a:latin typeface="Calibri" pitchFamily="34" charset="0"/>
                <a:ea typeface="Calibri" pitchFamily="34" charset="-122"/>
                <a:cs typeface="Calibri" pitchFamily="34" charset="-120"/>
              </a:rPr>
              <a:t>is all it takes to waste the whole answer.</a:t>
            </a:r>
            <a:endParaRPr lang="en-US" sz="1700" dirty="0"/>
          </a:p>
        </p:txBody>
      </p:sp>
      <p:sp>
        <p:nvSpPr>
          <p:cNvPr id="23" name="Text 21"/>
          <p:cNvSpPr txBox="1"/>
          <p:nvPr/>
        </p:nvSpPr>
        <p:spPr>
          <a:xfrm>
            <a:off x="10634472" y="6400800"/>
            <a:ext cx="1097280" cy="274320"/>
          </a:xfrm>
          <a:prstGeom prst="rect">
            <a:avLst/>
          </a:prstGeom>
          <a:noFill/>
          <a:ln/>
        </p:spPr>
        <p:txBody>
          <a:bodyPr wrap="square" lIns="0" tIns="0" rIns="0" bIns="0" rtlCol="0" anchor="ctr"/>
          <a:lstStyle/>
          <a:p>
            <a:pPr algn="r" indent="0" marL="0">
              <a:buNone/>
            </a:pPr>
            <a:r>
              <a:rPr lang="en-US" sz="900" dirty="0">
                <a:solidFill>
                  <a:srgbClr val="6B7A8D"/>
                </a:solidFill>
                <a:latin typeface="Calibri" pitchFamily="34" charset="0"/>
                <a:ea typeface="Calibri" pitchFamily="34" charset="-122"/>
                <a:cs typeface="Calibri" pitchFamily="34" charset="-120"/>
              </a:rPr>
              <a:t>02  /  10</a:t>
            </a:r>
            <a:endParaRPr lang="en-US" sz="900" dirty="0"/>
          </a:p>
        </p:txBody>
      </p:sp>
      <p:sp>
        <p:nvSpPr>
          <p:cNvPr id="24" name="Text 22"/>
          <p:cNvSpPr txBox="1"/>
          <p:nvPr/>
        </p:nvSpPr>
        <p:spPr>
          <a:xfrm>
            <a:off x="548640" y="6400800"/>
            <a:ext cx="1828800" cy="274320"/>
          </a:xfrm>
          <a:prstGeom prst="rect">
            <a:avLst/>
          </a:prstGeom>
          <a:noFill/>
          <a:ln/>
        </p:spPr>
        <p:txBody>
          <a:bodyPr wrap="square" lIns="0" tIns="0" rIns="0" bIns="0" rtlCol="0" anchor="ctr"/>
          <a:lstStyle/>
          <a:p>
            <a:pPr algn="l" indent="0" marL="0">
              <a:buNone/>
            </a:pPr>
            <a:r>
              <a:rPr lang="en-US" sz="900" b="1" spc="300" kern="0" dirty="0">
                <a:solidFill>
                  <a:srgbClr val="6B7A8D"/>
                </a:solidFill>
                <a:latin typeface="Calibri" pitchFamily="34" charset="0"/>
                <a:ea typeface="Calibri" pitchFamily="34" charset="-122"/>
                <a:cs typeface="Calibri" pitchFamily="34" charset="-120"/>
              </a:rPr>
              <a:t>VERSA</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502920"/>
            <a:ext cx="7315200" cy="320040"/>
          </a:xfrm>
          <a:prstGeom prst="rect">
            <a:avLst/>
          </a:prstGeom>
          <a:noFill/>
          <a:ln/>
        </p:spPr>
        <p:txBody>
          <a:bodyPr wrap="square" lIns="0" tIns="0" rIns="0" bIns="0" rtlCol="0" anchor="ctr"/>
          <a:lstStyle/>
          <a:p>
            <a:pPr algn="l" indent="0" marL="0">
              <a:buNone/>
            </a:pPr>
            <a:r>
              <a:rPr lang="en-US" sz="1200" b="1" spc="300" kern="0" dirty="0">
                <a:solidFill>
                  <a:srgbClr val="1FA9A0"/>
                </a:solidFill>
                <a:latin typeface="Calibri" pitchFamily="34" charset="0"/>
                <a:ea typeface="Calibri" pitchFamily="34" charset="-122"/>
                <a:cs typeface="Calibri" pitchFamily="34" charset="-120"/>
              </a:rPr>
              <a:t>SOLUTION OVERVIEW</a:t>
            </a:r>
            <a:endParaRPr lang="en-US" sz="1200" dirty="0"/>
          </a:p>
        </p:txBody>
      </p:sp>
      <p:sp>
        <p:nvSpPr>
          <p:cNvPr id="3" name="Text 1"/>
          <p:cNvSpPr txBox="1"/>
          <p:nvPr/>
        </p:nvSpPr>
        <p:spPr>
          <a:xfrm>
            <a:off x="548640" y="822960"/>
            <a:ext cx="11091672" cy="822960"/>
          </a:xfrm>
          <a:prstGeom prst="rect">
            <a:avLst/>
          </a:prstGeom>
          <a:noFill/>
          <a:ln/>
        </p:spPr>
        <p:txBody>
          <a:bodyPr wrap="square" lIns="0" tIns="0" rIns="0" bIns="0" rtlCol="0" anchor="ctr"/>
          <a:lstStyle/>
          <a:p>
            <a:pPr algn="l" indent="0" marL="0">
              <a:buNone/>
            </a:pPr>
            <a:r>
              <a:rPr lang="en-US" sz="3400" b="1" dirty="0">
                <a:solidFill>
                  <a:srgbClr val="12233F"/>
                </a:solidFill>
                <a:latin typeface="Calibri" pitchFamily="34" charset="0"/>
                <a:ea typeface="Calibri" pitchFamily="34" charset="-122"/>
                <a:cs typeface="Calibri" pitchFamily="34" charset="-120"/>
              </a:rPr>
              <a:t>Versa asks instead of assuming</a:t>
            </a:r>
            <a:endParaRPr lang="en-US" sz="3400" dirty="0"/>
          </a:p>
        </p:txBody>
      </p:sp>
      <p:sp>
        <p:nvSpPr>
          <p:cNvPr id="4" name="Text 2"/>
          <p:cNvSpPr txBox="1"/>
          <p:nvPr/>
        </p:nvSpPr>
        <p:spPr>
          <a:xfrm>
            <a:off x="548640" y="1645920"/>
            <a:ext cx="10515600" cy="548640"/>
          </a:xfrm>
          <a:prstGeom prst="rect">
            <a:avLst/>
          </a:prstGeom>
          <a:noFill/>
          <a:ln/>
        </p:spPr>
        <p:txBody>
          <a:bodyPr wrap="square" lIns="0" tIns="0" rIns="0" bIns="0" rtlCol="0" anchor="ctr"/>
          <a:lstStyle/>
          <a:p>
            <a:pPr indent="0" marL="0">
              <a:buNone/>
            </a:pPr>
            <a:r>
              <a:rPr lang="en-US" sz="1550" dirty="0">
                <a:solidFill>
                  <a:srgbClr val="6B7A8D"/>
                </a:solidFill>
                <a:latin typeface="Calibri" pitchFamily="34" charset="0"/>
                <a:ea typeface="Calibri" pitchFamily="34" charset="-122"/>
                <a:cs typeface="Calibri" pitchFamily="34" charset="-120"/>
              </a:rPr>
              <a:t>A lean, three-step loop replaces guessing with a single sharp clarification — then turns the answer into durable memory.</a:t>
            </a:r>
            <a:endParaRPr lang="en-US" sz="1550" dirty="0"/>
          </a:p>
        </p:txBody>
      </p:sp>
      <p:sp>
        <p:nvSpPr>
          <p:cNvPr id="5" name="Shape 3"/>
          <p:cNvSpPr/>
          <p:nvPr/>
        </p:nvSpPr>
        <p:spPr>
          <a:xfrm>
            <a:off x="548640" y="2468880"/>
            <a:ext cx="3429000" cy="2743200"/>
          </a:xfrm>
          <a:prstGeom prst="roundRect">
            <a:avLst>
              <a:gd name="adj" fmla="val 3333"/>
            </a:avLst>
          </a:prstGeom>
          <a:solidFill>
            <a:srgbClr val="F2F5F9"/>
          </a:solidFill>
          <a:ln w="12700">
            <a:solidFill>
              <a:srgbClr val="DFE6EE"/>
            </a:solidFill>
            <a:prstDash val="solid"/>
          </a:ln>
        </p:spPr>
      </p:sp>
      <p:sp>
        <p:nvSpPr>
          <p:cNvPr id="6" name="Shape 4"/>
          <p:cNvSpPr/>
          <p:nvPr/>
        </p:nvSpPr>
        <p:spPr>
          <a:xfrm>
            <a:off x="868680" y="2816352"/>
            <a:ext cx="658368" cy="658368"/>
          </a:xfrm>
          <a:prstGeom prst="ellipse">
            <a:avLst/>
          </a:prstGeom>
          <a:solidFill>
            <a:srgbClr val="1C3A5E"/>
          </a:solidFill>
          <a:ln/>
        </p:spPr>
      </p:sp>
      <p:sp>
        <p:nvSpPr>
          <p:cNvPr id="7" name="Text 5"/>
          <p:cNvSpPr txBox="1"/>
          <p:nvPr/>
        </p:nvSpPr>
        <p:spPr>
          <a:xfrm>
            <a:off x="868680" y="2816352"/>
            <a:ext cx="658368" cy="65836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8" name="Text 6"/>
          <p:cNvSpPr txBox="1"/>
          <p:nvPr/>
        </p:nvSpPr>
        <p:spPr>
          <a:xfrm>
            <a:off x="868680" y="3639312"/>
            <a:ext cx="2788920" cy="457200"/>
          </a:xfrm>
          <a:prstGeom prst="rect">
            <a:avLst/>
          </a:prstGeom>
          <a:noFill/>
          <a:ln/>
        </p:spPr>
        <p:txBody>
          <a:bodyPr wrap="square" lIns="0" tIns="0" rIns="0" bIns="0" rtlCol="0" anchor="ctr"/>
          <a:lstStyle/>
          <a:p>
            <a:pPr indent="0" marL="0">
              <a:buNone/>
            </a:pPr>
            <a:r>
              <a:rPr lang="en-US" sz="1800" b="1" dirty="0">
                <a:solidFill>
                  <a:srgbClr val="12233F"/>
                </a:solidFill>
                <a:latin typeface="Calibri" pitchFamily="34" charset="0"/>
                <a:ea typeface="Calibri" pitchFamily="34" charset="-122"/>
                <a:cs typeface="Calibri" pitchFamily="34" charset="-120"/>
              </a:rPr>
              <a:t>Detect ambiguity</a:t>
            </a:r>
            <a:endParaRPr lang="en-US" sz="1800" dirty="0"/>
          </a:p>
        </p:txBody>
      </p:sp>
      <p:sp>
        <p:nvSpPr>
          <p:cNvPr id="9" name="Text 7"/>
          <p:cNvSpPr txBox="1"/>
          <p:nvPr/>
        </p:nvSpPr>
        <p:spPr>
          <a:xfrm>
            <a:off x="868680" y="4160520"/>
            <a:ext cx="2788920" cy="914400"/>
          </a:xfrm>
          <a:prstGeom prst="rect">
            <a:avLst/>
          </a:prstGeom>
          <a:noFill/>
          <a:ln/>
        </p:spPr>
        <p:txBody>
          <a:bodyPr wrap="square" lIns="0" tIns="0" rIns="0" bIns="0" rtlCol="0" anchor="ctr"/>
          <a:lstStyle/>
          <a:p>
            <a:pPr indent="0" marL="0">
              <a:lnSpc>
                <a:spcPct val="125000"/>
              </a:lnSpc>
              <a:buNone/>
            </a:pPr>
            <a:r>
              <a:rPr lang="en-US" sz="1300" dirty="0">
                <a:solidFill>
                  <a:srgbClr val="1E2A3A"/>
                </a:solidFill>
                <a:latin typeface="Calibri" pitchFamily="34" charset="0"/>
                <a:ea typeface="Calibri" pitchFamily="34" charset="-122"/>
                <a:cs typeface="Calibri" pitchFamily="34" charset="-120"/>
              </a:rPr>
              <a:t>Before answering, Versa judges whether the message is genuinely unclear or under-specified.</a:t>
            </a:r>
            <a:endParaRPr lang="en-US" sz="1300" dirty="0"/>
          </a:p>
        </p:txBody>
      </p:sp>
      <p:sp>
        <p:nvSpPr>
          <p:cNvPr id="10" name="Text 8"/>
          <p:cNvSpPr txBox="1"/>
          <p:nvPr/>
        </p:nvSpPr>
        <p:spPr>
          <a:xfrm>
            <a:off x="3959352" y="3383280"/>
            <a:ext cx="310896" cy="731520"/>
          </a:xfrm>
          <a:prstGeom prst="rect">
            <a:avLst/>
          </a:prstGeom>
          <a:noFill/>
          <a:ln/>
        </p:spPr>
        <p:txBody>
          <a:bodyPr wrap="square" lIns="0" tIns="0" rIns="0" bIns="0" rtlCol="0" anchor="ctr"/>
          <a:lstStyle/>
          <a:p>
            <a:pPr algn="ctr" indent="0" marL="0">
              <a:buNone/>
            </a:pPr>
            <a:r>
              <a:rPr lang="en-US" sz="2800" b="1" dirty="0">
                <a:solidFill>
                  <a:srgbClr val="1FA9A0"/>
                </a:solidFill>
                <a:latin typeface="Calibri" pitchFamily="34" charset="0"/>
                <a:ea typeface="Calibri" pitchFamily="34" charset="-122"/>
                <a:cs typeface="Calibri" pitchFamily="34" charset="-120"/>
              </a:rPr>
              <a:t>›</a:t>
            </a:r>
            <a:endParaRPr lang="en-US" sz="2800" dirty="0"/>
          </a:p>
        </p:txBody>
      </p:sp>
      <p:sp>
        <p:nvSpPr>
          <p:cNvPr id="11" name="Shape 9"/>
          <p:cNvSpPr/>
          <p:nvPr/>
        </p:nvSpPr>
        <p:spPr>
          <a:xfrm>
            <a:off x="4288536" y="2468880"/>
            <a:ext cx="3429000" cy="2743200"/>
          </a:xfrm>
          <a:prstGeom prst="roundRect">
            <a:avLst>
              <a:gd name="adj" fmla="val 3333"/>
            </a:avLst>
          </a:prstGeom>
          <a:solidFill>
            <a:srgbClr val="F2F5F9"/>
          </a:solidFill>
          <a:ln w="12700">
            <a:solidFill>
              <a:srgbClr val="DFE6EE"/>
            </a:solidFill>
            <a:prstDash val="solid"/>
          </a:ln>
        </p:spPr>
      </p:sp>
      <p:sp>
        <p:nvSpPr>
          <p:cNvPr id="12" name="Shape 10"/>
          <p:cNvSpPr/>
          <p:nvPr/>
        </p:nvSpPr>
        <p:spPr>
          <a:xfrm>
            <a:off x="4608576" y="2816352"/>
            <a:ext cx="658368" cy="658368"/>
          </a:xfrm>
          <a:prstGeom prst="ellipse">
            <a:avLst/>
          </a:prstGeom>
          <a:solidFill>
            <a:srgbClr val="1C3A5E"/>
          </a:solidFill>
          <a:ln/>
        </p:spPr>
      </p:sp>
      <p:sp>
        <p:nvSpPr>
          <p:cNvPr id="13" name="Text 11"/>
          <p:cNvSpPr txBox="1"/>
          <p:nvPr/>
        </p:nvSpPr>
        <p:spPr>
          <a:xfrm>
            <a:off x="4608576" y="2816352"/>
            <a:ext cx="658368" cy="65836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4" name="Text 12"/>
          <p:cNvSpPr txBox="1"/>
          <p:nvPr/>
        </p:nvSpPr>
        <p:spPr>
          <a:xfrm>
            <a:off x="4608576" y="3639312"/>
            <a:ext cx="2788920" cy="457200"/>
          </a:xfrm>
          <a:prstGeom prst="rect">
            <a:avLst/>
          </a:prstGeom>
          <a:noFill/>
          <a:ln/>
        </p:spPr>
        <p:txBody>
          <a:bodyPr wrap="square" lIns="0" tIns="0" rIns="0" bIns="0" rtlCol="0" anchor="ctr"/>
          <a:lstStyle/>
          <a:p>
            <a:pPr indent="0" marL="0">
              <a:buNone/>
            </a:pPr>
            <a:r>
              <a:rPr lang="en-US" sz="1800" b="1" dirty="0">
                <a:solidFill>
                  <a:srgbClr val="12233F"/>
                </a:solidFill>
                <a:latin typeface="Calibri" pitchFamily="34" charset="0"/>
                <a:ea typeface="Calibri" pitchFamily="34" charset="-122"/>
                <a:cs typeface="Calibri" pitchFamily="34" charset="-120"/>
              </a:rPr>
              <a:t>Offer clear options</a:t>
            </a:r>
            <a:endParaRPr lang="en-US" sz="1800" dirty="0"/>
          </a:p>
        </p:txBody>
      </p:sp>
      <p:sp>
        <p:nvSpPr>
          <p:cNvPr id="15" name="Text 13"/>
          <p:cNvSpPr txBox="1"/>
          <p:nvPr/>
        </p:nvSpPr>
        <p:spPr>
          <a:xfrm>
            <a:off x="4608576" y="4160520"/>
            <a:ext cx="2788920" cy="914400"/>
          </a:xfrm>
          <a:prstGeom prst="rect">
            <a:avLst/>
          </a:prstGeom>
          <a:noFill/>
          <a:ln/>
        </p:spPr>
        <p:txBody>
          <a:bodyPr wrap="square" lIns="0" tIns="0" rIns="0" bIns="0" rtlCol="0" anchor="ctr"/>
          <a:lstStyle/>
          <a:p>
            <a:pPr indent="0" marL="0">
              <a:lnSpc>
                <a:spcPct val="125000"/>
              </a:lnSpc>
              <a:buNone/>
            </a:pPr>
            <a:r>
              <a:rPr lang="en-US" sz="1300" dirty="0">
                <a:solidFill>
                  <a:srgbClr val="1E2A3A"/>
                </a:solidFill>
                <a:latin typeface="Calibri" pitchFamily="34" charset="0"/>
                <a:ea typeface="Calibri" pitchFamily="34" charset="-122"/>
                <a:cs typeface="Calibri" pitchFamily="34" charset="-120"/>
              </a:rPr>
              <a:t>It generates 2–4 distinct interpretations and presents them as natural, clickable options — resolved in one tap.</a:t>
            </a:r>
            <a:endParaRPr lang="en-US" sz="1300" dirty="0"/>
          </a:p>
        </p:txBody>
      </p:sp>
      <p:sp>
        <p:nvSpPr>
          <p:cNvPr id="16" name="Text 14"/>
          <p:cNvSpPr txBox="1"/>
          <p:nvPr/>
        </p:nvSpPr>
        <p:spPr>
          <a:xfrm>
            <a:off x="7699248" y="3383280"/>
            <a:ext cx="310896" cy="731520"/>
          </a:xfrm>
          <a:prstGeom prst="rect">
            <a:avLst/>
          </a:prstGeom>
          <a:noFill/>
          <a:ln/>
        </p:spPr>
        <p:txBody>
          <a:bodyPr wrap="square" lIns="0" tIns="0" rIns="0" bIns="0" rtlCol="0" anchor="ctr"/>
          <a:lstStyle/>
          <a:p>
            <a:pPr algn="ctr" indent="0" marL="0">
              <a:buNone/>
            </a:pPr>
            <a:r>
              <a:rPr lang="en-US" sz="2800" b="1" dirty="0">
                <a:solidFill>
                  <a:srgbClr val="1FA9A0"/>
                </a:solidFill>
                <a:latin typeface="Calibri" pitchFamily="34" charset="0"/>
                <a:ea typeface="Calibri" pitchFamily="34" charset="-122"/>
                <a:cs typeface="Calibri" pitchFamily="34" charset="-120"/>
              </a:rPr>
              <a:t>›</a:t>
            </a:r>
            <a:endParaRPr lang="en-US" sz="2800" dirty="0"/>
          </a:p>
        </p:txBody>
      </p:sp>
      <p:sp>
        <p:nvSpPr>
          <p:cNvPr id="17" name="Shape 15"/>
          <p:cNvSpPr/>
          <p:nvPr/>
        </p:nvSpPr>
        <p:spPr>
          <a:xfrm>
            <a:off x="8028432" y="2468880"/>
            <a:ext cx="3429000" cy="2743200"/>
          </a:xfrm>
          <a:prstGeom prst="roundRect">
            <a:avLst>
              <a:gd name="adj" fmla="val 3333"/>
            </a:avLst>
          </a:prstGeom>
          <a:solidFill>
            <a:srgbClr val="F2F5F9"/>
          </a:solidFill>
          <a:ln w="12700">
            <a:solidFill>
              <a:srgbClr val="DFE6EE"/>
            </a:solidFill>
            <a:prstDash val="solid"/>
          </a:ln>
        </p:spPr>
      </p:sp>
      <p:sp>
        <p:nvSpPr>
          <p:cNvPr id="18" name="Shape 16"/>
          <p:cNvSpPr/>
          <p:nvPr/>
        </p:nvSpPr>
        <p:spPr>
          <a:xfrm>
            <a:off x="8348472" y="2816352"/>
            <a:ext cx="658368" cy="658368"/>
          </a:xfrm>
          <a:prstGeom prst="ellipse">
            <a:avLst/>
          </a:prstGeom>
          <a:solidFill>
            <a:srgbClr val="1FA9A0"/>
          </a:solidFill>
          <a:ln/>
        </p:spPr>
      </p:sp>
      <p:sp>
        <p:nvSpPr>
          <p:cNvPr id="19" name="Text 17"/>
          <p:cNvSpPr txBox="1"/>
          <p:nvPr/>
        </p:nvSpPr>
        <p:spPr>
          <a:xfrm>
            <a:off x="8348472" y="2816352"/>
            <a:ext cx="658368" cy="65836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Text 18"/>
          <p:cNvSpPr txBox="1"/>
          <p:nvPr/>
        </p:nvSpPr>
        <p:spPr>
          <a:xfrm>
            <a:off x="8348472" y="3639312"/>
            <a:ext cx="2788920" cy="457200"/>
          </a:xfrm>
          <a:prstGeom prst="rect">
            <a:avLst/>
          </a:prstGeom>
          <a:noFill/>
          <a:ln/>
        </p:spPr>
        <p:txBody>
          <a:bodyPr wrap="square" lIns="0" tIns="0" rIns="0" bIns="0" rtlCol="0" anchor="ctr"/>
          <a:lstStyle/>
          <a:p>
            <a:pPr indent="0" marL="0">
              <a:buNone/>
            </a:pPr>
            <a:r>
              <a:rPr lang="en-US" sz="1800" b="1" dirty="0">
                <a:solidFill>
                  <a:srgbClr val="12233F"/>
                </a:solidFill>
                <a:latin typeface="Calibri" pitchFamily="34" charset="0"/>
                <a:ea typeface="Calibri" pitchFamily="34" charset="-122"/>
                <a:cs typeface="Calibri" pitchFamily="34" charset="-120"/>
              </a:rPr>
              <a:t>Answer &amp; remember</a:t>
            </a:r>
            <a:endParaRPr lang="en-US" sz="1800" dirty="0"/>
          </a:p>
        </p:txBody>
      </p:sp>
      <p:sp>
        <p:nvSpPr>
          <p:cNvPr id="21" name="Text 19"/>
          <p:cNvSpPr txBox="1"/>
          <p:nvPr/>
        </p:nvSpPr>
        <p:spPr>
          <a:xfrm>
            <a:off x="8348472" y="4160520"/>
            <a:ext cx="2788920" cy="914400"/>
          </a:xfrm>
          <a:prstGeom prst="rect">
            <a:avLst/>
          </a:prstGeom>
          <a:noFill/>
          <a:ln/>
        </p:spPr>
        <p:txBody>
          <a:bodyPr wrap="square" lIns="0" tIns="0" rIns="0" bIns="0" rtlCol="0" anchor="ctr"/>
          <a:lstStyle/>
          <a:p>
            <a:pPr indent="0" marL="0">
              <a:lnSpc>
                <a:spcPct val="125000"/>
              </a:lnSpc>
              <a:buNone/>
            </a:pPr>
            <a:r>
              <a:rPr lang="en-US" sz="1300" dirty="0">
                <a:solidFill>
                  <a:srgbClr val="1E2A3A"/>
                </a:solidFill>
                <a:latin typeface="Calibri" pitchFamily="34" charset="0"/>
                <a:ea typeface="Calibri" pitchFamily="34" charset="-122"/>
                <a:cs typeface="Calibri" pitchFamily="34" charset="-120"/>
              </a:rPr>
              <a:t>It answers the chosen reading, then records what was unclear and what was chosen as searchable memory.</a:t>
            </a:r>
            <a:endParaRPr lang="en-US" sz="1300" dirty="0"/>
          </a:p>
        </p:txBody>
      </p:sp>
      <p:sp>
        <p:nvSpPr>
          <p:cNvPr id="22" name="Text 20"/>
          <p:cNvSpPr txBox="1"/>
          <p:nvPr/>
        </p:nvSpPr>
        <p:spPr>
          <a:xfrm>
            <a:off x="548640" y="5440680"/>
            <a:ext cx="10515600" cy="457200"/>
          </a:xfrm>
          <a:prstGeom prst="rect">
            <a:avLst/>
          </a:prstGeom>
          <a:noFill/>
          <a:ln/>
        </p:spPr>
        <p:txBody>
          <a:bodyPr wrap="square" lIns="0" tIns="0" rIns="0" bIns="0" rtlCol="0" anchor="ctr"/>
          <a:lstStyle/>
          <a:p>
            <a:pPr indent="0" marL="0">
              <a:buNone/>
            </a:pPr>
            <a:r>
              <a:rPr lang="en-US" sz="1400" i="1" dirty="0">
                <a:solidFill>
                  <a:srgbClr val="1FA9A0"/>
                </a:solidFill>
                <a:latin typeface="Calibri" pitchFamily="34" charset="0"/>
                <a:ea typeface="Calibri" pitchFamily="34" charset="-122"/>
                <a:cs typeface="Calibri" pitchFamily="34" charset="-120"/>
              </a:rPr>
              <a:t>No vague preference-quizzing. No wrong assumptions baked into the answer.</a:t>
            </a:r>
            <a:endParaRPr lang="en-US" sz="1400" dirty="0"/>
          </a:p>
        </p:txBody>
      </p:sp>
      <p:sp>
        <p:nvSpPr>
          <p:cNvPr id="23" name="Text 21"/>
          <p:cNvSpPr txBox="1"/>
          <p:nvPr/>
        </p:nvSpPr>
        <p:spPr>
          <a:xfrm>
            <a:off x="10634472" y="6400800"/>
            <a:ext cx="1097280" cy="274320"/>
          </a:xfrm>
          <a:prstGeom prst="rect">
            <a:avLst/>
          </a:prstGeom>
          <a:noFill/>
          <a:ln/>
        </p:spPr>
        <p:txBody>
          <a:bodyPr wrap="square" lIns="0" tIns="0" rIns="0" bIns="0" rtlCol="0" anchor="ctr"/>
          <a:lstStyle/>
          <a:p>
            <a:pPr algn="r" indent="0" marL="0">
              <a:buNone/>
            </a:pPr>
            <a:r>
              <a:rPr lang="en-US" sz="900" dirty="0">
                <a:solidFill>
                  <a:srgbClr val="6B7A8D"/>
                </a:solidFill>
                <a:latin typeface="Calibri" pitchFamily="34" charset="0"/>
                <a:ea typeface="Calibri" pitchFamily="34" charset="-122"/>
                <a:cs typeface="Calibri" pitchFamily="34" charset="-120"/>
              </a:rPr>
              <a:t>03  /  10</a:t>
            </a:r>
            <a:endParaRPr lang="en-US" sz="900" dirty="0"/>
          </a:p>
        </p:txBody>
      </p:sp>
      <p:sp>
        <p:nvSpPr>
          <p:cNvPr id="24" name="Text 22"/>
          <p:cNvSpPr txBox="1"/>
          <p:nvPr/>
        </p:nvSpPr>
        <p:spPr>
          <a:xfrm>
            <a:off x="548640" y="6400800"/>
            <a:ext cx="1828800" cy="274320"/>
          </a:xfrm>
          <a:prstGeom prst="rect">
            <a:avLst/>
          </a:prstGeom>
          <a:noFill/>
          <a:ln/>
        </p:spPr>
        <p:txBody>
          <a:bodyPr wrap="square" lIns="0" tIns="0" rIns="0" bIns="0" rtlCol="0" anchor="ctr"/>
          <a:lstStyle/>
          <a:p>
            <a:pPr algn="l" indent="0" marL="0">
              <a:buNone/>
            </a:pPr>
            <a:r>
              <a:rPr lang="en-US" sz="900" b="1" spc="300" kern="0" dirty="0">
                <a:solidFill>
                  <a:srgbClr val="6B7A8D"/>
                </a:solidFill>
                <a:latin typeface="Calibri" pitchFamily="34" charset="0"/>
                <a:ea typeface="Calibri" pitchFamily="34" charset="-122"/>
                <a:cs typeface="Calibri" pitchFamily="34" charset="-120"/>
              </a:rPr>
              <a:t>VERSA</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502920"/>
            <a:ext cx="7315200" cy="320040"/>
          </a:xfrm>
          <a:prstGeom prst="rect">
            <a:avLst/>
          </a:prstGeom>
          <a:noFill/>
          <a:ln/>
        </p:spPr>
        <p:txBody>
          <a:bodyPr wrap="square" lIns="0" tIns="0" rIns="0" bIns="0" rtlCol="0" anchor="ctr"/>
          <a:lstStyle/>
          <a:p>
            <a:pPr algn="l" indent="0" marL="0">
              <a:buNone/>
            </a:pPr>
            <a:r>
              <a:rPr lang="en-US" sz="1200" b="1" spc="300" kern="0" dirty="0">
                <a:solidFill>
                  <a:srgbClr val="1FA9A0"/>
                </a:solidFill>
                <a:latin typeface="Calibri" pitchFamily="34" charset="0"/>
                <a:ea typeface="Calibri" pitchFamily="34" charset="-122"/>
                <a:cs typeface="Calibri" pitchFamily="34" charset="-120"/>
              </a:rPr>
              <a:t>TARGET USERS</a:t>
            </a:r>
            <a:endParaRPr lang="en-US" sz="1200" dirty="0"/>
          </a:p>
        </p:txBody>
      </p:sp>
      <p:sp>
        <p:nvSpPr>
          <p:cNvPr id="3" name="Text 1"/>
          <p:cNvSpPr txBox="1"/>
          <p:nvPr/>
        </p:nvSpPr>
        <p:spPr>
          <a:xfrm>
            <a:off x="548640" y="822960"/>
            <a:ext cx="11091672" cy="822960"/>
          </a:xfrm>
          <a:prstGeom prst="rect">
            <a:avLst/>
          </a:prstGeom>
          <a:noFill/>
          <a:ln/>
        </p:spPr>
        <p:txBody>
          <a:bodyPr wrap="square" lIns="0" tIns="0" rIns="0" bIns="0" rtlCol="0" anchor="ctr"/>
          <a:lstStyle/>
          <a:p>
            <a:pPr algn="l" indent="0" marL="0">
              <a:buNone/>
            </a:pPr>
            <a:r>
              <a:rPr lang="en-US" sz="3400" b="1" dirty="0">
                <a:solidFill>
                  <a:srgbClr val="12233F"/>
                </a:solidFill>
                <a:latin typeface="Calibri" pitchFamily="34" charset="0"/>
                <a:ea typeface="Calibri" pitchFamily="34" charset="-122"/>
                <a:cs typeface="Calibri" pitchFamily="34" charset="-120"/>
              </a:rPr>
              <a:t>Who Versa is for</a:t>
            </a:r>
            <a:endParaRPr lang="en-US" sz="3400" dirty="0"/>
          </a:p>
        </p:txBody>
      </p:sp>
      <p:sp>
        <p:nvSpPr>
          <p:cNvPr id="4" name="Shape 2"/>
          <p:cNvSpPr/>
          <p:nvPr/>
        </p:nvSpPr>
        <p:spPr>
          <a:xfrm>
            <a:off x="548640" y="1874520"/>
            <a:ext cx="3429000" cy="3931920"/>
          </a:xfrm>
          <a:prstGeom prst="roundRect">
            <a:avLst>
              <a:gd name="adj" fmla="val 2667"/>
            </a:avLst>
          </a:prstGeom>
          <a:solidFill>
            <a:srgbClr val="FFFFFF"/>
          </a:solidFill>
          <a:ln w="15875">
            <a:solidFill>
              <a:srgbClr val="DFE6EE"/>
            </a:solidFill>
            <a:prstDash val="solid"/>
          </a:ln>
        </p:spPr>
      </p:sp>
      <p:sp>
        <p:nvSpPr>
          <p:cNvPr id="5" name="Shape 3"/>
          <p:cNvSpPr/>
          <p:nvPr/>
        </p:nvSpPr>
        <p:spPr>
          <a:xfrm>
            <a:off x="548640" y="1874520"/>
            <a:ext cx="3429000" cy="1051560"/>
          </a:xfrm>
          <a:prstGeom prst="roundRect">
            <a:avLst>
              <a:gd name="adj" fmla="val 8696"/>
            </a:avLst>
          </a:prstGeom>
          <a:solidFill>
            <a:srgbClr val="1C3A5E"/>
          </a:solidFill>
          <a:ln/>
        </p:spPr>
      </p:sp>
      <p:sp>
        <p:nvSpPr>
          <p:cNvPr id="6" name="Shape 4"/>
          <p:cNvSpPr/>
          <p:nvPr/>
        </p:nvSpPr>
        <p:spPr>
          <a:xfrm>
            <a:off x="548640" y="2377440"/>
            <a:ext cx="3429000" cy="548640"/>
          </a:xfrm>
          <a:prstGeom prst="rect">
            <a:avLst/>
          </a:prstGeom>
          <a:solidFill>
            <a:srgbClr val="1C3A5E"/>
          </a:solidFill>
          <a:ln/>
        </p:spPr>
      </p:sp>
      <p:sp>
        <p:nvSpPr>
          <p:cNvPr id="7" name="Shape 5"/>
          <p:cNvSpPr/>
          <p:nvPr/>
        </p:nvSpPr>
        <p:spPr>
          <a:xfrm>
            <a:off x="1933956" y="2093976"/>
            <a:ext cx="658368" cy="658368"/>
          </a:xfrm>
          <a:prstGeom prst="ellipse">
            <a:avLst/>
          </a:prstGeom>
          <a:solidFill>
            <a:srgbClr val="FFFFFF"/>
          </a:solidFill>
          <a:ln/>
        </p:spPr>
      </p:sp>
      <p:sp>
        <p:nvSpPr>
          <p:cNvPr id="8" name="Text 6"/>
          <p:cNvSpPr txBox="1"/>
          <p:nvPr/>
        </p:nvSpPr>
        <p:spPr>
          <a:xfrm>
            <a:off x="1933956" y="2093976"/>
            <a:ext cx="658368" cy="658368"/>
          </a:xfrm>
          <a:prstGeom prst="rect">
            <a:avLst/>
          </a:prstGeom>
          <a:noFill/>
          <a:ln/>
        </p:spPr>
        <p:txBody>
          <a:bodyPr wrap="square" lIns="0" tIns="0" rIns="0" bIns="0" rtlCol="0" anchor="ctr"/>
          <a:lstStyle/>
          <a:p>
            <a:pPr algn="ctr" indent="0" marL="0">
              <a:buNone/>
            </a:pPr>
            <a:endParaRPr lang="en-US" sz="1800" dirty="0"/>
          </a:p>
        </p:txBody>
      </p:sp>
      <p:sp>
        <p:nvSpPr>
          <p:cNvPr id="9" name="Shape 7"/>
          <p:cNvSpPr/>
          <p:nvPr/>
        </p:nvSpPr>
        <p:spPr>
          <a:xfrm>
            <a:off x="2089404" y="2249424"/>
            <a:ext cx="347472" cy="347472"/>
          </a:xfrm>
          <a:prstGeom prst="ellipse">
            <a:avLst/>
          </a:prstGeom>
          <a:solidFill>
            <a:srgbClr val="1C3A5E"/>
          </a:solidFill>
          <a:ln/>
        </p:spPr>
      </p:sp>
      <p:sp>
        <p:nvSpPr>
          <p:cNvPr id="10" name="Text 8"/>
          <p:cNvSpPr txBox="1"/>
          <p:nvPr/>
        </p:nvSpPr>
        <p:spPr>
          <a:xfrm>
            <a:off x="777240" y="3108960"/>
            <a:ext cx="2971800" cy="822960"/>
          </a:xfrm>
          <a:prstGeom prst="rect">
            <a:avLst/>
          </a:prstGeom>
          <a:noFill/>
          <a:ln/>
        </p:spPr>
        <p:txBody>
          <a:bodyPr wrap="square" lIns="0" tIns="0" rIns="0" bIns="0" rtlCol="0" anchor="ctr"/>
          <a:lstStyle/>
          <a:p>
            <a:pPr algn="ctr" indent="0" marL="0">
              <a:buNone/>
            </a:pPr>
            <a:r>
              <a:rPr lang="en-US" sz="1700" b="1" dirty="0">
                <a:solidFill>
                  <a:srgbClr val="12233F"/>
                </a:solidFill>
                <a:latin typeface="Calibri" pitchFamily="34" charset="0"/>
                <a:ea typeface="Calibri" pitchFamily="34" charset="-122"/>
                <a:cs typeface="Calibri" pitchFamily="34" charset="-120"/>
              </a:rPr>
              <a:t>Students &amp; self-learners</a:t>
            </a:r>
            <a:endParaRPr lang="en-US" sz="1700" dirty="0"/>
          </a:p>
        </p:txBody>
      </p:sp>
      <p:sp>
        <p:nvSpPr>
          <p:cNvPr id="11" name="Text 9"/>
          <p:cNvSpPr txBox="1"/>
          <p:nvPr/>
        </p:nvSpPr>
        <p:spPr>
          <a:xfrm>
            <a:off x="822960" y="3931920"/>
            <a:ext cx="2880360" cy="1737360"/>
          </a:xfrm>
          <a:prstGeom prst="rect">
            <a:avLst/>
          </a:prstGeom>
          <a:noFill/>
          <a:ln/>
        </p:spPr>
        <p:txBody>
          <a:bodyPr wrap="square" lIns="0" tIns="0" rIns="0" bIns="0" rtlCol="0" anchor="ctr"/>
          <a:lstStyle/>
          <a:p>
            <a:pPr algn="ctr" indent="0" marL="0">
              <a:lnSpc>
                <a:spcPct val="130000"/>
              </a:lnSpc>
              <a:buNone/>
            </a:pPr>
            <a:r>
              <a:rPr lang="en-US" sz="1300" dirty="0">
                <a:solidFill>
                  <a:srgbClr val="1E2A3A"/>
                </a:solidFill>
                <a:latin typeface="Calibri" pitchFamily="34" charset="0"/>
                <a:ea typeface="Calibri" pitchFamily="34" charset="-122"/>
                <a:cs typeface="Calibri" pitchFamily="34" charset="-120"/>
              </a:rPr>
              <a:t>Anyone working through material who wants help that fits the question they actually asked — and a tutor that learns how they think over time.</a:t>
            </a:r>
            <a:endParaRPr lang="en-US" sz="1300" dirty="0"/>
          </a:p>
        </p:txBody>
      </p:sp>
      <p:sp>
        <p:nvSpPr>
          <p:cNvPr id="12" name="Shape 10"/>
          <p:cNvSpPr/>
          <p:nvPr/>
        </p:nvSpPr>
        <p:spPr>
          <a:xfrm>
            <a:off x="4288536" y="1874520"/>
            <a:ext cx="3429000" cy="3931920"/>
          </a:xfrm>
          <a:prstGeom prst="roundRect">
            <a:avLst>
              <a:gd name="adj" fmla="val 2667"/>
            </a:avLst>
          </a:prstGeom>
          <a:solidFill>
            <a:srgbClr val="FFFFFF"/>
          </a:solidFill>
          <a:ln w="15875">
            <a:solidFill>
              <a:srgbClr val="DFE6EE"/>
            </a:solidFill>
            <a:prstDash val="solid"/>
          </a:ln>
        </p:spPr>
      </p:sp>
      <p:sp>
        <p:nvSpPr>
          <p:cNvPr id="13" name="Shape 11"/>
          <p:cNvSpPr/>
          <p:nvPr/>
        </p:nvSpPr>
        <p:spPr>
          <a:xfrm>
            <a:off x="4288536" y="1874520"/>
            <a:ext cx="3429000" cy="1051560"/>
          </a:xfrm>
          <a:prstGeom prst="roundRect">
            <a:avLst>
              <a:gd name="adj" fmla="val 8696"/>
            </a:avLst>
          </a:prstGeom>
          <a:solidFill>
            <a:srgbClr val="1FA9A0"/>
          </a:solidFill>
          <a:ln/>
        </p:spPr>
      </p:sp>
      <p:sp>
        <p:nvSpPr>
          <p:cNvPr id="14" name="Shape 12"/>
          <p:cNvSpPr/>
          <p:nvPr/>
        </p:nvSpPr>
        <p:spPr>
          <a:xfrm>
            <a:off x="4288536" y="2377440"/>
            <a:ext cx="3429000" cy="548640"/>
          </a:xfrm>
          <a:prstGeom prst="rect">
            <a:avLst/>
          </a:prstGeom>
          <a:solidFill>
            <a:srgbClr val="1FA9A0"/>
          </a:solidFill>
          <a:ln/>
        </p:spPr>
      </p:sp>
      <p:sp>
        <p:nvSpPr>
          <p:cNvPr id="15" name="Shape 13"/>
          <p:cNvSpPr/>
          <p:nvPr/>
        </p:nvSpPr>
        <p:spPr>
          <a:xfrm>
            <a:off x="5673852" y="2093976"/>
            <a:ext cx="658368" cy="658368"/>
          </a:xfrm>
          <a:prstGeom prst="ellipse">
            <a:avLst/>
          </a:prstGeom>
          <a:solidFill>
            <a:srgbClr val="FFFFFF"/>
          </a:solidFill>
          <a:ln/>
        </p:spPr>
      </p:sp>
      <p:sp>
        <p:nvSpPr>
          <p:cNvPr id="16" name="Text 14"/>
          <p:cNvSpPr txBox="1"/>
          <p:nvPr/>
        </p:nvSpPr>
        <p:spPr>
          <a:xfrm>
            <a:off x="5673852" y="2093976"/>
            <a:ext cx="658368" cy="658368"/>
          </a:xfrm>
          <a:prstGeom prst="rect">
            <a:avLst/>
          </a:prstGeom>
          <a:noFill/>
          <a:ln/>
        </p:spPr>
        <p:txBody>
          <a:bodyPr wrap="square" lIns="0" tIns="0" rIns="0" bIns="0" rtlCol="0" anchor="ctr"/>
          <a:lstStyle/>
          <a:p>
            <a:pPr algn="ctr" indent="0" marL="0">
              <a:buNone/>
            </a:pPr>
            <a:endParaRPr lang="en-US" sz="1800" dirty="0"/>
          </a:p>
        </p:txBody>
      </p:sp>
      <p:sp>
        <p:nvSpPr>
          <p:cNvPr id="17" name="Shape 15"/>
          <p:cNvSpPr/>
          <p:nvPr/>
        </p:nvSpPr>
        <p:spPr>
          <a:xfrm>
            <a:off x="5829300" y="2249424"/>
            <a:ext cx="347472" cy="347472"/>
          </a:xfrm>
          <a:prstGeom prst="ellipse">
            <a:avLst/>
          </a:prstGeom>
          <a:solidFill>
            <a:srgbClr val="1FA9A0"/>
          </a:solidFill>
          <a:ln/>
        </p:spPr>
      </p:sp>
      <p:sp>
        <p:nvSpPr>
          <p:cNvPr id="18" name="Text 16"/>
          <p:cNvSpPr txBox="1"/>
          <p:nvPr/>
        </p:nvSpPr>
        <p:spPr>
          <a:xfrm>
            <a:off x="4517136" y="3108960"/>
            <a:ext cx="2971800" cy="822960"/>
          </a:xfrm>
          <a:prstGeom prst="rect">
            <a:avLst/>
          </a:prstGeom>
          <a:noFill/>
          <a:ln/>
        </p:spPr>
        <p:txBody>
          <a:bodyPr wrap="square" lIns="0" tIns="0" rIns="0" bIns="0" rtlCol="0" anchor="ctr"/>
          <a:lstStyle/>
          <a:p>
            <a:pPr algn="ctr" indent="0" marL="0">
              <a:buNone/>
            </a:pPr>
            <a:r>
              <a:rPr lang="en-US" sz="1700" b="1" dirty="0">
                <a:solidFill>
                  <a:srgbClr val="12233F"/>
                </a:solidFill>
                <a:latin typeface="Calibri" pitchFamily="34" charset="0"/>
                <a:ea typeface="Calibri" pitchFamily="34" charset="-122"/>
                <a:cs typeface="Calibri" pitchFamily="34" charset="-120"/>
              </a:rPr>
              <a:t>Educators &amp; tutoring platforms</a:t>
            </a:r>
            <a:endParaRPr lang="en-US" sz="1700" dirty="0"/>
          </a:p>
        </p:txBody>
      </p:sp>
      <p:sp>
        <p:nvSpPr>
          <p:cNvPr id="19" name="Text 17"/>
          <p:cNvSpPr txBox="1"/>
          <p:nvPr/>
        </p:nvSpPr>
        <p:spPr>
          <a:xfrm>
            <a:off x="4562856" y="3931920"/>
            <a:ext cx="2880360" cy="1737360"/>
          </a:xfrm>
          <a:prstGeom prst="rect">
            <a:avLst/>
          </a:prstGeom>
          <a:noFill/>
          <a:ln/>
        </p:spPr>
        <p:txBody>
          <a:bodyPr wrap="square" lIns="0" tIns="0" rIns="0" bIns="0" rtlCol="0" anchor="ctr"/>
          <a:lstStyle/>
          <a:p>
            <a:pPr algn="ctr" indent="0" marL="0">
              <a:lnSpc>
                <a:spcPct val="130000"/>
              </a:lnSpc>
              <a:buNone/>
            </a:pPr>
            <a:r>
              <a:rPr lang="en-US" sz="1300" dirty="0">
                <a:solidFill>
                  <a:srgbClr val="1E2A3A"/>
                </a:solidFill>
                <a:latin typeface="Calibri" pitchFamily="34" charset="0"/>
                <a:ea typeface="Calibri" pitchFamily="34" charset="-122"/>
                <a:cs typeface="Calibri" pitchFamily="34" charset="-120"/>
              </a:rPr>
              <a:t>Teachers and online tutoring services that need scalable, personalized support without wrong-assumption noise.</a:t>
            </a:r>
            <a:endParaRPr lang="en-US" sz="1300" dirty="0"/>
          </a:p>
        </p:txBody>
      </p:sp>
      <p:sp>
        <p:nvSpPr>
          <p:cNvPr id="20" name="Shape 18"/>
          <p:cNvSpPr/>
          <p:nvPr/>
        </p:nvSpPr>
        <p:spPr>
          <a:xfrm>
            <a:off x="8028432" y="1874520"/>
            <a:ext cx="3429000" cy="3931920"/>
          </a:xfrm>
          <a:prstGeom prst="roundRect">
            <a:avLst>
              <a:gd name="adj" fmla="val 2667"/>
            </a:avLst>
          </a:prstGeom>
          <a:solidFill>
            <a:srgbClr val="FFFFFF"/>
          </a:solidFill>
          <a:ln w="15875">
            <a:solidFill>
              <a:srgbClr val="DFE6EE"/>
            </a:solidFill>
            <a:prstDash val="solid"/>
          </a:ln>
        </p:spPr>
      </p:sp>
      <p:sp>
        <p:nvSpPr>
          <p:cNvPr id="21" name="Shape 19"/>
          <p:cNvSpPr/>
          <p:nvPr/>
        </p:nvSpPr>
        <p:spPr>
          <a:xfrm>
            <a:off x="8028432" y="1874520"/>
            <a:ext cx="3429000" cy="1051560"/>
          </a:xfrm>
          <a:prstGeom prst="roundRect">
            <a:avLst>
              <a:gd name="adj" fmla="val 8696"/>
            </a:avLst>
          </a:prstGeom>
          <a:solidFill>
            <a:srgbClr val="4A80C7"/>
          </a:solidFill>
          <a:ln/>
        </p:spPr>
      </p:sp>
      <p:sp>
        <p:nvSpPr>
          <p:cNvPr id="22" name="Shape 20"/>
          <p:cNvSpPr/>
          <p:nvPr/>
        </p:nvSpPr>
        <p:spPr>
          <a:xfrm>
            <a:off x="8028432" y="2377440"/>
            <a:ext cx="3429000" cy="548640"/>
          </a:xfrm>
          <a:prstGeom prst="rect">
            <a:avLst/>
          </a:prstGeom>
          <a:solidFill>
            <a:srgbClr val="4A80C7"/>
          </a:solidFill>
          <a:ln/>
        </p:spPr>
      </p:sp>
      <p:sp>
        <p:nvSpPr>
          <p:cNvPr id="23" name="Shape 21"/>
          <p:cNvSpPr/>
          <p:nvPr/>
        </p:nvSpPr>
        <p:spPr>
          <a:xfrm>
            <a:off x="9413748" y="2093976"/>
            <a:ext cx="658368" cy="658368"/>
          </a:xfrm>
          <a:prstGeom prst="ellipse">
            <a:avLst/>
          </a:prstGeom>
          <a:solidFill>
            <a:srgbClr val="FFFFFF"/>
          </a:solidFill>
          <a:ln/>
        </p:spPr>
      </p:sp>
      <p:sp>
        <p:nvSpPr>
          <p:cNvPr id="24" name="Text 22"/>
          <p:cNvSpPr txBox="1"/>
          <p:nvPr/>
        </p:nvSpPr>
        <p:spPr>
          <a:xfrm>
            <a:off x="9413748" y="2093976"/>
            <a:ext cx="658368" cy="658368"/>
          </a:xfrm>
          <a:prstGeom prst="rect">
            <a:avLst/>
          </a:prstGeom>
          <a:noFill/>
          <a:ln/>
        </p:spPr>
        <p:txBody>
          <a:bodyPr wrap="square" lIns="0" tIns="0" rIns="0" bIns="0" rtlCol="0" anchor="ctr"/>
          <a:lstStyle/>
          <a:p>
            <a:pPr algn="ctr" indent="0" marL="0">
              <a:buNone/>
            </a:pPr>
            <a:endParaRPr lang="en-US" sz="1800" dirty="0"/>
          </a:p>
        </p:txBody>
      </p:sp>
      <p:sp>
        <p:nvSpPr>
          <p:cNvPr id="25" name="Shape 23"/>
          <p:cNvSpPr/>
          <p:nvPr/>
        </p:nvSpPr>
        <p:spPr>
          <a:xfrm>
            <a:off x="9569196" y="2249424"/>
            <a:ext cx="347472" cy="347472"/>
          </a:xfrm>
          <a:prstGeom prst="ellipse">
            <a:avLst/>
          </a:prstGeom>
          <a:solidFill>
            <a:srgbClr val="4A80C7"/>
          </a:solidFill>
          <a:ln/>
        </p:spPr>
      </p:sp>
      <p:sp>
        <p:nvSpPr>
          <p:cNvPr id="26" name="Text 24"/>
          <p:cNvSpPr txBox="1"/>
          <p:nvPr/>
        </p:nvSpPr>
        <p:spPr>
          <a:xfrm>
            <a:off x="8257032" y="3108960"/>
            <a:ext cx="2971800" cy="822960"/>
          </a:xfrm>
          <a:prstGeom prst="rect">
            <a:avLst/>
          </a:prstGeom>
          <a:noFill/>
          <a:ln/>
        </p:spPr>
        <p:txBody>
          <a:bodyPr wrap="square" lIns="0" tIns="0" rIns="0" bIns="0" rtlCol="0" anchor="ctr"/>
          <a:lstStyle/>
          <a:p>
            <a:pPr algn="ctr" indent="0" marL="0">
              <a:buNone/>
            </a:pPr>
            <a:r>
              <a:rPr lang="en-US" sz="1700" b="1" dirty="0">
                <a:solidFill>
                  <a:srgbClr val="12233F"/>
                </a:solidFill>
                <a:latin typeface="Calibri" pitchFamily="34" charset="0"/>
                <a:ea typeface="Calibri" pitchFamily="34" charset="-122"/>
                <a:cs typeface="Calibri" pitchFamily="34" charset="-120"/>
              </a:rPr>
              <a:t>EdTech builders</a:t>
            </a:r>
            <a:endParaRPr lang="en-US" sz="1700" dirty="0"/>
          </a:p>
        </p:txBody>
      </p:sp>
      <p:sp>
        <p:nvSpPr>
          <p:cNvPr id="27" name="Text 25"/>
          <p:cNvSpPr txBox="1"/>
          <p:nvPr/>
        </p:nvSpPr>
        <p:spPr>
          <a:xfrm>
            <a:off x="8302752" y="3931920"/>
            <a:ext cx="2880360" cy="1737360"/>
          </a:xfrm>
          <a:prstGeom prst="rect">
            <a:avLst/>
          </a:prstGeom>
          <a:noFill/>
          <a:ln/>
        </p:spPr>
        <p:txBody>
          <a:bodyPr wrap="square" lIns="0" tIns="0" rIns="0" bIns="0" rtlCol="0" anchor="ctr"/>
          <a:lstStyle/>
          <a:p>
            <a:pPr algn="ctr" indent="0" marL="0">
              <a:lnSpc>
                <a:spcPct val="130000"/>
              </a:lnSpc>
              <a:buNone/>
            </a:pPr>
            <a:r>
              <a:rPr lang="en-US" sz="1300" dirty="0">
                <a:solidFill>
                  <a:srgbClr val="1E2A3A"/>
                </a:solidFill>
                <a:latin typeface="Calibri" pitchFamily="34" charset="0"/>
                <a:ea typeface="Calibri" pitchFamily="34" charset="-122"/>
                <a:cs typeface="Calibri" pitchFamily="34" charset="-120"/>
              </a:rPr>
              <a:t>Teams that want an auditable, evidence-backed learner model they can embed — every claim traceable to stored evidence.</a:t>
            </a:r>
            <a:endParaRPr lang="en-US" sz="1300" dirty="0"/>
          </a:p>
        </p:txBody>
      </p:sp>
      <p:sp>
        <p:nvSpPr>
          <p:cNvPr id="28" name="Text 26"/>
          <p:cNvSpPr txBox="1"/>
          <p:nvPr/>
        </p:nvSpPr>
        <p:spPr>
          <a:xfrm>
            <a:off x="10634472" y="6400800"/>
            <a:ext cx="1097280" cy="274320"/>
          </a:xfrm>
          <a:prstGeom prst="rect">
            <a:avLst/>
          </a:prstGeom>
          <a:noFill/>
          <a:ln/>
        </p:spPr>
        <p:txBody>
          <a:bodyPr wrap="square" lIns="0" tIns="0" rIns="0" bIns="0" rtlCol="0" anchor="ctr"/>
          <a:lstStyle/>
          <a:p>
            <a:pPr algn="r" indent="0" marL="0">
              <a:buNone/>
            </a:pPr>
            <a:r>
              <a:rPr lang="en-US" sz="900" dirty="0">
                <a:solidFill>
                  <a:srgbClr val="6B7A8D"/>
                </a:solidFill>
                <a:latin typeface="Calibri" pitchFamily="34" charset="0"/>
                <a:ea typeface="Calibri" pitchFamily="34" charset="-122"/>
                <a:cs typeface="Calibri" pitchFamily="34" charset="-120"/>
              </a:rPr>
              <a:t>04  /  10</a:t>
            </a:r>
            <a:endParaRPr lang="en-US" sz="900" dirty="0"/>
          </a:p>
        </p:txBody>
      </p:sp>
      <p:sp>
        <p:nvSpPr>
          <p:cNvPr id="29" name="Text 27"/>
          <p:cNvSpPr txBox="1"/>
          <p:nvPr/>
        </p:nvSpPr>
        <p:spPr>
          <a:xfrm>
            <a:off x="548640" y="6400800"/>
            <a:ext cx="1828800" cy="274320"/>
          </a:xfrm>
          <a:prstGeom prst="rect">
            <a:avLst/>
          </a:prstGeom>
          <a:noFill/>
          <a:ln/>
        </p:spPr>
        <p:txBody>
          <a:bodyPr wrap="square" lIns="0" tIns="0" rIns="0" bIns="0" rtlCol="0" anchor="ctr"/>
          <a:lstStyle/>
          <a:p>
            <a:pPr algn="l" indent="0" marL="0">
              <a:buNone/>
            </a:pPr>
            <a:r>
              <a:rPr lang="en-US" sz="900" b="1" spc="300" kern="0" dirty="0">
                <a:solidFill>
                  <a:srgbClr val="6B7A8D"/>
                </a:solidFill>
                <a:latin typeface="Calibri" pitchFamily="34" charset="0"/>
                <a:ea typeface="Calibri" pitchFamily="34" charset="-122"/>
                <a:cs typeface="Calibri" pitchFamily="34" charset="-120"/>
              </a:rPr>
              <a:t>VERSA</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502920"/>
            <a:ext cx="7315200" cy="320040"/>
          </a:xfrm>
          <a:prstGeom prst="rect">
            <a:avLst/>
          </a:prstGeom>
          <a:noFill/>
          <a:ln/>
        </p:spPr>
        <p:txBody>
          <a:bodyPr wrap="square" lIns="0" tIns="0" rIns="0" bIns="0" rtlCol="0" anchor="ctr"/>
          <a:lstStyle/>
          <a:p>
            <a:pPr algn="l" indent="0" marL="0">
              <a:buNone/>
            </a:pPr>
            <a:r>
              <a:rPr lang="en-US" sz="1200" b="1" spc="300" kern="0" dirty="0">
                <a:solidFill>
                  <a:srgbClr val="1FA9A0"/>
                </a:solidFill>
                <a:latin typeface="Calibri" pitchFamily="34" charset="0"/>
                <a:ea typeface="Calibri" pitchFamily="34" charset="-122"/>
                <a:cs typeface="Calibri" pitchFamily="34" charset="-120"/>
              </a:rPr>
              <a:t>PRODUCT FEATURES</a:t>
            </a:r>
            <a:endParaRPr lang="en-US" sz="1200" dirty="0"/>
          </a:p>
        </p:txBody>
      </p:sp>
      <p:sp>
        <p:nvSpPr>
          <p:cNvPr id="3" name="Text 1"/>
          <p:cNvSpPr txBox="1"/>
          <p:nvPr/>
        </p:nvSpPr>
        <p:spPr>
          <a:xfrm>
            <a:off x="548640" y="822960"/>
            <a:ext cx="11091672" cy="822960"/>
          </a:xfrm>
          <a:prstGeom prst="rect">
            <a:avLst/>
          </a:prstGeom>
          <a:noFill/>
          <a:ln/>
        </p:spPr>
        <p:txBody>
          <a:bodyPr wrap="square" lIns="0" tIns="0" rIns="0" bIns="0" rtlCol="0" anchor="ctr"/>
          <a:lstStyle/>
          <a:p>
            <a:pPr algn="l" indent="0" marL="0">
              <a:buNone/>
            </a:pPr>
            <a:r>
              <a:rPr lang="en-US" sz="3400" b="1" dirty="0">
                <a:solidFill>
                  <a:srgbClr val="12233F"/>
                </a:solidFill>
                <a:latin typeface="Calibri" pitchFamily="34" charset="0"/>
                <a:ea typeface="Calibri" pitchFamily="34" charset="-122"/>
                <a:cs typeface="Calibri" pitchFamily="34" charset="-120"/>
              </a:rPr>
              <a:t>What Versa does</a:t>
            </a:r>
            <a:endParaRPr lang="en-US" sz="3400" dirty="0"/>
          </a:p>
        </p:txBody>
      </p:sp>
      <p:sp>
        <p:nvSpPr>
          <p:cNvPr id="4" name="Shape 2"/>
          <p:cNvSpPr/>
          <p:nvPr/>
        </p:nvSpPr>
        <p:spPr>
          <a:xfrm>
            <a:off x="548640" y="1828800"/>
            <a:ext cx="3429000" cy="1783080"/>
          </a:xfrm>
          <a:prstGeom prst="roundRect">
            <a:avLst>
              <a:gd name="adj" fmla="val 4615"/>
            </a:avLst>
          </a:prstGeom>
          <a:solidFill>
            <a:srgbClr val="F2F5F9"/>
          </a:solidFill>
          <a:ln w="12700">
            <a:solidFill>
              <a:srgbClr val="DFE6EE"/>
            </a:solidFill>
            <a:prstDash val="solid"/>
          </a:ln>
        </p:spPr>
      </p:sp>
      <p:sp>
        <p:nvSpPr>
          <p:cNvPr id="5" name="Shape 3"/>
          <p:cNvSpPr/>
          <p:nvPr/>
        </p:nvSpPr>
        <p:spPr>
          <a:xfrm>
            <a:off x="804672" y="2084832"/>
            <a:ext cx="457200" cy="457200"/>
          </a:xfrm>
          <a:prstGeom prst="ellipse">
            <a:avLst/>
          </a:prstGeom>
          <a:solidFill>
            <a:srgbClr val="1C3A5E"/>
          </a:solidFill>
          <a:ln/>
        </p:spPr>
      </p:sp>
      <p:sp>
        <p:nvSpPr>
          <p:cNvPr id="6" name="Text 4"/>
          <p:cNvSpPr txBox="1"/>
          <p:nvPr/>
        </p:nvSpPr>
        <p:spPr>
          <a:xfrm>
            <a:off x="804672" y="208483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txBox="1"/>
          <p:nvPr/>
        </p:nvSpPr>
        <p:spPr>
          <a:xfrm>
            <a:off x="1371600" y="2066544"/>
            <a:ext cx="2423160" cy="502920"/>
          </a:xfrm>
          <a:prstGeom prst="rect">
            <a:avLst/>
          </a:prstGeom>
          <a:noFill/>
          <a:ln/>
        </p:spPr>
        <p:txBody>
          <a:bodyPr wrap="square" lIns="0" tIns="0" rIns="0" bIns="0" rtlCol="0" anchor="ctr"/>
          <a:lstStyle/>
          <a:p>
            <a:pPr indent="0" marL="0">
              <a:buNone/>
            </a:pPr>
            <a:r>
              <a:rPr lang="en-US" sz="1500" b="1" dirty="0">
                <a:solidFill>
                  <a:srgbClr val="12233F"/>
                </a:solidFill>
                <a:latin typeface="Calibri" pitchFamily="34" charset="0"/>
                <a:ea typeface="Calibri" pitchFamily="34" charset="-122"/>
                <a:cs typeface="Calibri" pitchFamily="34" charset="-120"/>
              </a:rPr>
              <a:t>Smart disambiguation</a:t>
            </a:r>
            <a:endParaRPr lang="en-US" sz="1500" dirty="0"/>
          </a:p>
        </p:txBody>
      </p:sp>
      <p:sp>
        <p:nvSpPr>
          <p:cNvPr id="8" name="Text 6"/>
          <p:cNvSpPr txBox="1"/>
          <p:nvPr/>
        </p:nvSpPr>
        <p:spPr>
          <a:xfrm>
            <a:off x="804672" y="2697480"/>
            <a:ext cx="2926080" cy="822960"/>
          </a:xfrm>
          <a:prstGeom prst="rect">
            <a:avLst/>
          </a:prstGeom>
          <a:noFill/>
          <a:ln/>
        </p:spPr>
        <p:txBody>
          <a:bodyPr wrap="square" lIns="0" tIns="0" rIns="0" bIns="0" rtlCol="0" anchor="ctr"/>
          <a:lstStyle/>
          <a:p>
            <a:pPr indent="0" marL="0">
              <a:lnSpc>
                <a:spcPct val="122000"/>
              </a:lnSpc>
              <a:buNone/>
            </a:pPr>
            <a:r>
              <a:rPr lang="en-US" sz="1200" dirty="0">
                <a:solidFill>
                  <a:srgbClr val="1E2A3A"/>
                </a:solidFill>
                <a:latin typeface="Calibri" pitchFamily="34" charset="0"/>
                <a:ea typeface="Calibri" pitchFamily="34" charset="-122"/>
                <a:cs typeface="Calibri" pitchFamily="34" charset="-120"/>
              </a:rPr>
              <a:t>Turns an unclear message into one tap-to-resolve question with distinct options.</a:t>
            </a:r>
            <a:endParaRPr lang="en-US" sz="1200" dirty="0"/>
          </a:p>
        </p:txBody>
      </p:sp>
      <p:sp>
        <p:nvSpPr>
          <p:cNvPr id="9" name="Shape 7"/>
          <p:cNvSpPr/>
          <p:nvPr/>
        </p:nvSpPr>
        <p:spPr>
          <a:xfrm>
            <a:off x="4288536" y="1828800"/>
            <a:ext cx="3429000" cy="1783080"/>
          </a:xfrm>
          <a:prstGeom prst="roundRect">
            <a:avLst>
              <a:gd name="adj" fmla="val 4615"/>
            </a:avLst>
          </a:prstGeom>
          <a:solidFill>
            <a:srgbClr val="F2F5F9"/>
          </a:solidFill>
          <a:ln w="12700">
            <a:solidFill>
              <a:srgbClr val="DFE6EE"/>
            </a:solidFill>
            <a:prstDash val="solid"/>
          </a:ln>
        </p:spPr>
      </p:sp>
      <p:sp>
        <p:nvSpPr>
          <p:cNvPr id="10" name="Shape 8"/>
          <p:cNvSpPr/>
          <p:nvPr/>
        </p:nvSpPr>
        <p:spPr>
          <a:xfrm>
            <a:off x="4544568" y="2084832"/>
            <a:ext cx="457200" cy="457200"/>
          </a:xfrm>
          <a:prstGeom prst="ellipse">
            <a:avLst/>
          </a:prstGeom>
          <a:solidFill>
            <a:srgbClr val="1FA9A0"/>
          </a:solidFill>
          <a:ln/>
        </p:spPr>
      </p:sp>
      <p:sp>
        <p:nvSpPr>
          <p:cNvPr id="11" name="Text 9"/>
          <p:cNvSpPr txBox="1"/>
          <p:nvPr/>
        </p:nvSpPr>
        <p:spPr>
          <a:xfrm>
            <a:off x="4544568" y="208483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2" name="Text 10"/>
          <p:cNvSpPr txBox="1"/>
          <p:nvPr/>
        </p:nvSpPr>
        <p:spPr>
          <a:xfrm>
            <a:off x="5111496" y="2066544"/>
            <a:ext cx="2423160" cy="502920"/>
          </a:xfrm>
          <a:prstGeom prst="rect">
            <a:avLst/>
          </a:prstGeom>
          <a:noFill/>
          <a:ln/>
        </p:spPr>
        <p:txBody>
          <a:bodyPr wrap="square" lIns="0" tIns="0" rIns="0" bIns="0" rtlCol="0" anchor="ctr"/>
          <a:lstStyle/>
          <a:p>
            <a:pPr indent="0" marL="0">
              <a:buNone/>
            </a:pPr>
            <a:r>
              <a:rPr lang="en-US" sz="1500" b="1" dirty="0">
                <a:solidFill>
                  <a:srgbClr val="12233F"/>
                </a:solidFill>
                <a:latin typeface="Calibri" pitchFamily="34" charset="0"/>
                <a:ea typeface="Calibri" pitchFamily="34" charset="-122"/>
                <a:cs typeface="Calibri" pitchFamily="34" charset="-120"/>
              </a:rPr>
              <a:t>Semantic memory</a:t>
            </a:r>
            <a:endParaRPr lang="en-US" sz="1500" dirty="0"/>
          </a:p>
        </p:txBody>
      </p:sp>
      <p:sp>
        <p:nvSpPr>
          <p:cNvPr id="13" name="Text 11"/>
          <p:cNvSpPr txBox="1"/>
          <p:nvPr/>
        </p:nvSpPr>
        <p:spPr>
          <a:xfrm>
            <a:off x="4544568" y="2697480"/>
            <a:ext cx="2926080" cy="822960"/>
          </a:xfrm>
          <a:prstGeom prst="rect">
            <a:avLst/>
          </a:prstGeom>
          <a:noFill/>
          <a:ln/>
        </p:spPr>
        <p:txBody>
          <a:bodyPr wrap="square" lIns="0" tIns="0" rIns="0" bIns="0" rtlCol="0" anchor="ctr"/>
          <a:lstStyle/>
          <a:p>
            <a:pPr indent="0" marL="0">
              <a:lnSpc>
                <a:spcPct val="122000"/>
              </a:lnSpc>
              <a:buNone/>
            </a:pPr>
            <a:r>
              <a:rPr lang="en-US" sz="1200" dirty="0">
                <a:solidFill>
                  <a:srgbClr val="1E2A3A"/>
                </a:solidFill>
                <a:latin typeface="Calibri" pitchFamily="34" charset="0"/>
                <a:ea typeface="Calibri" pitchFamily="34" charset="-122"/>
                <a:cs typeface="Calibri" pitchFamily="34" charset="-120"/>
              </a:rPr>
              <a:t>Recalls past resolutions and skips a question it has already answered for you.</a:t>
            </a:r>
            <a:endParaRPr lang="en-US" sz="1200" dirty="0"/>
          </a:p>
        </p:txBody>
      </p:sp>
      <p:sp>
        <p:nvSpPr>
          <p:cNvPr id="14" name="Shape 12"/>
          <p:cNvSpPr/>
          <p:nvPr/>
        </p:nvSpPr>
        <p:spPr>
          <a:xfrm>
            <a:off x="8028432" y="1828800"/>
            <a:ext cx="3429000" cy="1783080"/>
          </a:xfrm>
          <a:prstGeom prst="roundRect">
            <a:avLst>
              <a:gd name="adj" fmla="val 4615"/>
            </a:avLst>
          </a:prstGeom>
          <a:solidFill>
            <a:srgbClr val="F2F5F9"/>
          </a:solidFill>
          <a:ln w="12700">
            <a:solidFill>
              <a:srgbClr val="DFE6EE"/>
            </a:solidFill>
            <a:prstDash val="solid"/>
          </a:ln>
        </p:spPr>
      </p:sp>
      <p:sp>
        <p:nvSpPr>
          <p:cNvPr id="15" name="Shape 13"/>
          <p:cNvSpPr/>
          <p:nvPr/>
        </p:nvSpPr>
        <p:spPr>
          <a:xfrm>
            <a:off x="8284464" y="2084832"/>
            <a:ext cx="457200" cy="457200"/>
          </a:xfrm>
          <a:prstGeom prst="ellipse">
            <a:avLst/>
          </a:prstGeom>
          <a:solidFill>
            <a:srgbClr val="1C3A5E"/>
          </a:solidFill>
          <a:ln/>
        </p:spPr>
      </p:sp>
      <p:sp>
        <p:nvSpPr>
          <p:cNvPr id="16" name="Text 14"/>
          <p:cNvSpPr txBox="1"/>
          <p:nvPr/>
        </p:nvSpPr>
        <p:spPr>
          <a:xfrm>
            <a:off x="8284464" y="208483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7" name="Text 15"/>
          <p:cNvSpPr txBox="1"/>
          <p:nvPr/>
        </p:nvSpPr>
        <p:spPr>
          <a:xfrm>
            <a:off x="8851392" y="2066544"/>
            <a:ext cx="2423160" cy="502920"/>
          </a:xfrm>
          <a:prstGeom prst="rect">
            <a:avLst/>
          </a:prstGeom>
          <a:noFill/>
          <a:ln/>
        </p:spPr>
        <p:txBody>
          <a:bodyPr wrap="square" lIns="0" tIns="0" rIns="0" bIns="0" rtlCol="0" anchor="ctr"/>
          <a:lstStyle/>
          <a:p>
            <a:pPr indent="0" marL="0">
              <a:buNone/>
            </a:pPr>
            <a:r>
              <a:rPr lang="en-US" sz="1500" b="1" dirty="0">
                <a:solidFill>
                  <a:srgbClr val="12233F"/>
                </a:solidFill>
                <a:latin typeface="Calibri" pitchFamily="34" charset="0"/>
                <a:ea typeface="Calibri" pitchFamily="34" charset="-122"/>
                <a:cs typeface="Calibri" pitchFamily="34" charset="-120"/>
              </a:rPr>
              <a:t>Thinking-style detection</a:t>
            </a:r>
            <a:endParaRPr lang="en-US" sz="1500" dirty="0"/>
          </a:p>
        </p:txBody>
      </p:sp>
      <p:sp>
        <p:nvSpPr>
          <p:cNvPr id="18" name="Text 16"/>
          <p:cNvSpPr txBox="1"/>
          <p:nvPr/>
        </p:nvSpPr>
        <p:spPr>
          <a:xfrm>
            <a:off x="8284464" y="2697480"/>
            <a:ext cx="2926080" cy="822960"/>
          </a:xfrm>
          <a:prstGeom prst="rect">
            <a:avLst/>
          </a:prstGeom>
          <a:noFill/>
          <a:ln/>
        </p:spPr>
        <p:txBody>
          <a:bodyPr wrap="square" lIns="0" tIns="0" rIns="0" bIns="0" rtlCol="0" anchor="ctr"/>
          <a:lstStyle/>
          <a:p>
            <a:pPr indent="0" marL="0">
              <a:lnSpc>
                <a:spcPct val="122000"/>
              </a:lnSpc>
              <a:buNone/>
            </a:pPr>
            <a:r>
              <a:rPr lang="en-US" sz="1200" dirty="0">
                <a:solidFill>
                  <a:srgbClr val="1E2A3A"/>
                </a:solidFill>
                <a:latin typeface="Calibri" pitchFamily="34" charset="0"/>
                <a:ea typeface="Calibri" pitchFamily="34" charset="-122"/>
                <a:cs typeface="Calibri" pitchFamily="34" charset="-120"/>
              </a:rPr>
              <a:t>Learns the order you reason in — only after independent, repeated confirmation.</a:t>
            </a:r>
            <a:endParaRPr lang="en-US" sz="1200" dirty="0"/>
          </a:p>
        </p:txBody>
      </p:sp>
      <p:sp>
        <p:nvSpPr>
          <p:cNvPr id="19" name="Shape 17"/>
          <p:cNvSpPr/>
          <p:nvPr/>
        </p:nvSpPr>
        <p:spPr>
          <a:xfrm>
            <a:off x="548640" y="3904488"/>
            <a:ext cx="3429000" cy="1783080"/>
          </a:xfrm>
          <a:prstGeom prst="roundRect">
            <a:avLst>
              <a:gd name="adj" fmla="val 4615"/>
            </a:avLst>
          </a:prstGeom>
          <a:solidFill>
            <a:srgbClr val="F2F5F9"/>
          </a:solidFill>
          <a:ln w="12700">
            <a:solidFill>
              <a:srgbClr val="DFE6EE"/>
            </a:solidFill>
            <a:prstDash val="solid"/>
          </a:ln>
        </p:spPr>
      </p:sp>
      <p:sp>
        <p:nvSpPr>
          <p:cNvPr id="20" name="Shape 18"/>
          <p:cNvSpPr/>
          <p:nvPr/>
        </p:nvSpPr>
        <p:spPr>
          <a:xfrm>
            <a:off x="804672" y="4160520"/>
            <a:ext cx="457200" cy="457200"/>
          </a:xfrm>
          <a:prstGeom prst="ellipse">
            <a:avLst/>
          </a:prstGeom>
          <a:solidFill>
            <a:srgbClr val="1FA9A0"/>
          </a:solidFill>
          <a:ln/>
        </p:spPr>
      </p:sp>
      <p:sp>
        <p:nvSpPr>
          <p:cNvPr id="21" name="Text 19"/>
          <p:cNvSpPr txBox="1"/>
          <p:nvPr/>
        </p:nvSpPr>
        <p:spPr>
          <a:xfrm>
            <a:off x="804672" y="41605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22" name="Text 20"/>
          <p:cNvSpPr txBox="1"/>
          <p:nvPr/>
        </p:nvSpPr>
        <p:spPr>
          <a:xfrm>
            <a:off x="1371600" y="4142232"/>
            <a:ext cx="2423160" cy="502920"/>
          </a:xfrm>
          <a:prstGeom prst="rect">
            <a:avLst/>
          </a:prstGeom>
          <a:noFill/>
          <a:ln/>
        </p:spPr>
        <p:txBody>
          <a:bodyPr wrap="square" lIns="0" tIns="0" rIns="0" bIns="0" rtlCol="0" anchor="ctr"/>
          <a:lstStyle/>
          <a:p>
            <a:pPr indent="0" marL="0">
              <a:buNone/>
            </a:pPr>
            <a:r>
              <a:rPr lang="en-US" sz="1500" b="1" dirty="0">
                <a:solidFill>
                  <a:srgbClr val="12233F"/>
                </a:solidFill>
                <a:latin typeface="Calibri" pitchFamily="34" charset="0"/>
                <a:ea typeface="Calibri" pitchFamily="34" charset="-122"/>
                <a:cs typeface="Calibri" pitchFamily="34" charset="-120"/>
              </a:rPr>
              <a:t>Evidence-backed claims</a:t>
            </a:r>
            <a:endParaRPr lang="en-US" sz="1500" dirty="0"/>
          </a:p>
        </p:txBody>
      </p:sp>
      <p:sp>
        <p:nvSpPr>
          <p:cNvPr id="23" name="Text 21"/>
          <p:cNvSpPr txBox="1"/>
          <p:nvPr/>
        </p:nvSpPr>
        <p:spPr>
          <a:xfrm>
            <a:off x="804672" y="4773168"/>
            <a:ext cx="2926080" cy="822960"/>
          </a:xfrm>
          <a:prstGeom prst="rect">
            <a:avLst/>
          </a:prstGeom>
          <a:noFill/>
          <a:ln/>
        </p:spPr>
        <p:txBody>
          <a:bodyPr wrap="square" lIns="0" tIns="0" rIns="0" bIns="0" rtlCol="0" anchor="ctr"/>
          <a:lstStyle/>
          <a:p>
            <a:pPr indent="0" marL="0">
              <a:lnSpc>
                <a:spcPct val="122000"/>
              </a:lnSpc>
              <a:buNone/>
            </a:pPr>
            <a:r>
              <a:rPr lang="en-US" sz="1200" dirty="0">
                <a:solidFill>
                  <a:srgbClr val="1E2A3A"/>
                </a:solidFill>
                <a:latin typeface="Calibri" pitchFamily="34" charset="0"/>
                <a:ea typeface="Calibri" pitchFamily="34" charset="-122"/>
                <a:cs typeface="Calibri" pitchFamily="34" charset="-120"/>
              </a:rPr>
              <a:t>Traits are extracted only from genuinely surprising moments, each with a testable claim.</a:t>
            </a:r>
            <a:endParaRPr lang="en-US" sz="1200" dirty="0"/>
          </a:p>
        </p:txBody>
      </p:sp>
      <p:sp>
        <p:nvSpPr>
          <p:cNvPr id="24" name="Shape 22"/>
          <p:cNvSpPr/>
          <p:nvPr/>
        </p:nvSpPr>
        <p:spPr>
          <a:xfrm>
            <a:off x="4288536" y="3904488"/>
            <a:ext cx="3429000" cy="1783080"/>
          </a:xfrm>
          <a:prstGeom prst="roundRect">
            <a:avLst>
              <a:gd name="adj" fmla="val 4615"/>
            </a:avLst>
          </a:prstGeom>
          <a:solidFill>
            <a:srgbClr val="F2F5F9"/>
          </a:solidFill>
          <a:ln w="12700">
            <a:solidFill>
              <a:srgbClr val="DFE6EE"/>
            </a:solidFill>
            <a:prstDash val="solid"/>
          </a:ln>
        </p:spPr>
      </p:sp>
      <p:sp>
        <p:nvSpPr>
          <p:cNvPr id="25" name="Shape 23"/>
          <p:cNvSpPr/>
          <p:nvPr/>
        </p:nvSpPr>
        <p:spPr>
          <a:xfrm>
            <a:off x="4544568" y="4160520"/>
            <a:ext cx="457200" cy="457200"/>
          </a:xfrm>
          <a:prstGeom prst="ellipse">
            <a:avLst/>
          </a:prstGeom>
          <a:solidFill>
            <a:srgbClr val="1C3A5E"/>
          </a:solidFill>
          <a:ln/>
        </p:spPr>
      </p:sp>
      <p:sp>
        <p:nvSpPr>
          <p:cNvPr id="26" name="Text 24"/>
          <p:cNvSpPr txBox="1"/>
          <p:nvPr/>
        </p:nvSpPr>
        <p:spPr>
          <a:xfrm>
            <a:off x="4544568" y="41605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27" name="Text 25"/>
          <p:cNvSpPr txBox="1"/>
          <p:nvPr/>
        </p:nvSpPr>
        <p:spPr>
          <a:xfrm>
            <a:off x="5111496" y="4142232"/>
            <a:ext cx="2423160" cy="502920"/>
          </a:xfrm>
          <a:prstGeom prst="rect">
            <a:avLst/>
          </a:prstGeom>
          <a:noFill/>
          <a:ln/>
        </p:spPr>
        <p:txBody>
          <a:bodyPr wrap="square" lIns="0" tIns="0" rIns="0" bIns="0" rtlCol="0" anchor="ctr"/>
          <a:lstStyle/>
          <a:p>
            <a:pPr indent="0" marL="0">
              <a:buNone/>
            </a:pPr>
            <a:r>
              <a:rPr lang="en-US" sz="1500" b="1" dirty="0">
                <a:solidFill>
                  <a:srgbClr val="12233F"/>
                </a:solidFill>
                <a:latin typeface="Calibri" pitchFamily="34" charset="0"/>
                <a:ea typeface="Calibri" pitchFamily="34" charset="-122"/>
                <a:cs typeface="Calibri" pitchFamily="34" charset="-120"/>
              </a:rPr>
              <a:t>Capability tracking</a:t>
            </a:r>
            <a:endParaRPr lang="en-US" sz="1500" dirty="0"/>
          </a:p>
        </p:txBody>
      </p:sp>
      <p:sp>
        <p:nvSpPr>
          <p:cNvPr id="28" name="Text 26"/>
          <p:cNvSpPr txBox="1"/>
          <p:nvPr/>
        </p:nvSpPr>
        <p:spPr>
          <a:xfrm>
            <a:off x="4544568" y="4773168"/>
            <a:ext cx="2926080" cy="822960"/>
          </a:xfrm>
          <a:prstGeom prst="rect">
            <a:avLst/>
          </a:prstGeom>
          <a:noFill/>
          <a:ln/>
        </p:spPr>
        <p:txBody>
          <a:bodyPr wrap="square" lIns="0" tIns="0" rIns="0" bIns="0" rtlCol="0" anchor="ctr"/>
          <a:lstStyle/>
          <a:p>
            <a:pPr indent="0" marL="0">
              <a:lnSpc>
                <a:spcPct val="122000"/>
              </a:lnSpc>
              <a:buNone/>
            </a:pPr>
            <a:r>
              <a:rPr lang="en-US" sz="1200" dirty="0">
                <a:solidFill>
                  <a:srgbClr val="1E2A3A"/>
                </a:solidFill>
                <a:latin typeface="Calibri" pitchFamily="34" charset="0"/>
                <a:ea typeface="Calibri" pitchFamily="34" charset="-122"/>
                <a:cs typeface="Calibri" pitchFamily="34" charset="-120"/>
              </a:rPr>
              <a:t>Separately models what a learner can do, apart from what they prefer.</a:t>
            </a:r>
            <a:endParaRPr lang="en-US" sz="1200" dirty="0"/>
          </a:p>
        </p:txBody>
      </p:sp>
      <p:sp>
        <p:nvSpPr>
          <p:cNvPr id="29" name="Shape 27"/>
          <p:cNvSpPr/>
          <p:nvPr/>
        </p:nvSpPr>
        <p:spPr>
          <a:xfrm>
            <a:off x="8028432" y="3904488"/>
            <a:ext cx="3429000" cy="1783080"/>
          </a:xfrm>
          <a:prstGeom prst="roundRect">
            <a:avLst>
              <a:gd name="adj" fmla="val 4615"/>
            </a:avLst>
          </a:prstGeom>
          <a:solidFill>
            <a:srgbClr val="F2F5F9"/>
          </a:solidFill>
          <a:ln w="12700">
            <a:solidFill>
              <a:srgbClr val="DFE6EE"/>
            </a:solidFill>
            <a:prstDash val="solid"/>
          </a:ln>
        </p:spPr>
      </p:sp>
      <p:sp>
        <p:nvSpPr>
          <p:cNvPr id="30" name="Shape 28"/>
          <p:cNvSpPr/>
          <p:nvPr/>
        </p:nvSpPr>
        <p:spPr>
          <a:xfrm>
            <a:off x="8284464" y="4160520"/>
            <a:ext cx="457200" cy="457200"/>
          </a:xfrm>
          <a:prstGeom prst="ellipse">
            <a:avLst/>
          </a:prstGeom>
          <a:solidFill>
            <a:srgbClr val="1FA9A0"/>
          </a:solidFill>
          <a:ln/>
        </p:spPr>
      </p:sp>
      <p:sp>
        <p:nvSpPr>
          <p:cNvPr id="31" name="Text 29"/>
          <p:cNvSpPr txBox="1"/>
          <p:nvPr/>
        </p:nvSpPr>
        <p:spPr>
          <a:xfrm>
            <a:off x="8284464" y="41605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32" name="Text 30"/>
          <p:cNvSpPr txBox="1"/>
          <p:nvPr/>
        </p:nvSpPr>
        <p:spPr>
          <a:xfrm>
            <a:off x="8851392" y="4142232"/>
            <a:ext cx="2423160" cy="502920"/>
          </a:xfrm>
          <a:prstGeom prst="rect">
            <a:avLst/>
          </a:prstGeom>
          <a:noFill/>
          <a:ln/>
        </p:spPr>
        <p:txBody>
          <a:bodyPr wrap="square" lIns="0" tIns="0" rIns="0" bIns="0" rtlCol="0" anchor="ctr"/>
          <a:lstStyle/>
          <a:p>
            <a:pPr indent="0" marL="0">
              <a:buNone/>
            </a:pPr>
            <a:r>
              <a:rPr lang="en-US" sz="1500" b="1" dirty="0">
                <a:solidFill>
                  <a:srgbClr val="12233F"/>
                </a:solidFill>
                <a:latin typeface="Calibri" pitchFamily="34" charset="0"/>
                <a:ea typeface="Calibri" pitchFamily="34" charset="-122"/>
                <a:cs typeface="Calibri" pitchFamily="34" charset="-120"/>
              </a:rPr>
              <a:t>Full audit trail</a:t>
            </a:r>
            <a:endParaRPr lang="en-US" sz="1500" dirty="0"/>
          </a:p>
        </p:txBody>
      </p:sp>
      <p:sp>
        <p:nvSpPr>
          <p:cNvPr id="33" name="Text 31"/>
          <p:cNvSpPr txBox="1"/>
          <p:nvPr/>
        </p:nvSpPr>
        <p:spPr>
          <a:xfrm>
            <a:off x="8284464" y="4773168"/>
            <a:ext cx="2926080" cy="822960"/>
          </a:xfrm>
          <a:prstGeom prst="rect">
            <a:avLst/>
          </a:prstGeom>
          <a:noFill/>
          <a:ln/>
        </p:spPr>
        <p:txBody>
          <a:bodyPr wrap="square" lIns="0" tIns="0" rIns="0" bIns="0" rtlCol="0" anchor="ctr"/>
          <a:lstStyle/>
          <a:p>
            <a:pPr indent="0" marL="0">
              <a:lnSpc>
                <a:spcPct val="122000"/>
              </a:lnSpc>
              <a:buNone/>
            </a:pPr>
            <a:r>
              <a:rPr lang="en-US" sz="1200" dirty="0">
                <a:solidFill>
                  <a:srgbClr val="1E2A3A"/>
                </a:solidFill>
                <a:latin typeface="Calibri" pitchFamily="34" charset="0"/>
                <a:ea typeface="Calibri" pitchFamily="34" charset="-122"/>
                <a:cs typeface="Calibri" pitchFamily="34" charset="-120"/>
              </a:rPr>
              <a:t>Every belief is append-only and traces back to stored, readable evidence.</a:t>
            </a:r>
            <a:endParaRPr lang="en-US" sz="1200" dirty="0"/>
          </a:p>
        </p:txBody>
      </p:sp>
      <p:sp>
        <p:nvSpPr>
          <p:cNvPr id="34" name="Text 32"/>
          <p:cNvSpPr txBox="1"/>
          <p:nvPr/>
        </p:nvSpPr>
        <p:spPr>
          <a:xfrm>
            <a:off x="10634472" y="6400800"/>
            <a:ext cx="1097280" cy="274320"/>
          </a:xfrm>
          <a:prstGeom prst="rect">
            <a:avLst/>
          </a:prstGeom>
          <a:noFill/>
          <a:ln/>
        </p:spPr>
        <p:txBody>
          <a:bodyPr wrap="square" lIns="0" tIns="0" rIns="0" bIns="0" rtlCol="0" anchor="ctr"/>
          <a:lstStyle/>
          <a:p>
            <a:pPr algn="r" indent="0" marL="0">
              <a:buNone/>
            </a:pPr>
            <a:r>
              <a:rPr lang="en-US" sz="900" dirty="0">
                <a:solidFill>
                  <a:srgbClr val="6B7A8D"/>
                </a:solidFill>
                <a:latin typeface="Calibri" pitchFamily="34" charset="0"/>
                <a:ea typeface="Calibri" pitchFamily="34" charset="-122"/>
                <a:cs typeface="Calibri" pitchFamily="34" charset="-120"/>
              </a:rPr>
              <a:t>05  /  10</a:t>
            </a:r>
            <a:endParaRPr lang="en-US" sz="900" dirty="0"/>
          </a:p>
        </p:txBody>
      </p:sp>
      <p:sp>
        <p:nvSpPr>
          <p:cNvPr id="35" name="Text 33"/>
          <p:cNvSpPr txBox="1"/>
          <p:nvPr/>
        </p:nvSpPr>
        <p:spPr>
          <a:xfrm>
            <a:off x="548640" y="6400800"/>
            <a:ext cx="1828800" cy="274320"/>
          </a:xfrm>
          <a:prstGeom prst="rect">
            <a:avLst/>
          </a:prstGeom>
          <a:noFill/>
          <a:ln/>
        </p:spPr>
        <p:txBody>
          <a:bodyPr wrap="square" lIns="0" tIns="0" rIns="0" bIns="0" rtlCol="0" anchor="ctr"/>
          <a:lstStyle/>
          <a:p>
            <a:pPr algn="l" indent="0" marL="0">
              <a:buNone/>
            </a:pPr>
            <a:r>
              <a:rPr lang="en-US" sz="900" b="1" spc="300" kern="0" dirty="0">
                <a:solidFill>
                  <a:srgbClr val="6B7A8D"/>
                </a:solidFill>
                <a:latin typeface="Calibri" pitchFamily="34" charset="0"/>
                <a:ea typeface="Calibri" pitchFamily="34" charset="-122"/>
                <a:cs typeface="Calibri" pitchFamily="34" charset="-120"/>
              </a:rPr>
              <a:t>VERSA</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502920"/>
            <a:ext cx="7315200" cy="320040"/>
          </a:xfrm>
          <a:prstGeom prst="rect">
            <a:avLst/>
          </a:prstGeom>
          <a:noFill/>
          <a:ln/>
        </p:spPr>
        <p:txBody>
          <a:bodyPr wrap="square" lIns="0" tIns="0" rIns="0" bIns="0" rtlCol="0" anchor="ctr"/>
          <a:lstStyle/>
          <a:p>
            <a:pPr algn="l" indent="0" marL="0">
              <a:buNone/>
            </a:pPr>
            <a:r>
              <a:rPr lang="en-US" sz="1200" b="1" spc="300" kern="0" dirty="0">
                <a:solidFill>
                  <a:srgbClr val="1FA9A0"/>
                </a:solidFill>
                <a:latin typeface="Calibri" pitchFamily="34" charset="0"/>
                <a:ea typeface="Calibri" pitchFamily="34" charset="-122"/>
                <a:cs typeface="Calibri" pitchFamily="34" charset="-120"/>
              </a:rPr>
              <a:t>TECHNICAL ARCHITECTURE</a:t>
            </a:r>
            <a:endParaRPr lang="en-US" sz="1200" dirty="0"/>
          </a:p>
        </p:txBody>
      </p:sp>
      <p:sp>
        <p:nvSpPr>
          <p:cNvPr id="3" name="Text 1"/>
          <p:cNvSpPr txBox="1"/>
          <p:nvPr/>
        </p:nvSpPr>
        <p:spPr>
          <a:xfrm>
            <a:off x="548640" y="822960"/>
            <a:ext cx="11091672" cy="822960"/>
          </a:xfrm>
          <a:prstGeom prst="rect">
            <a:avLst/>
          </a:prstGeom>
          <a:noFill/>
          <a:ln/>
        </p:spPr>
        <p:txBody>
          <a:bodyPr wrap="square" lIns="0" tIns="0" rIns="0" bIns="0" rtlCol="0" anchor="ctr"/>
          <a:lstStyle/>
          <a:p>
            <a:pPr algn="l" indent="0" marL="0">
              <a:buNone/>
            </a:pPr>
            <a:r>
              <a:rPr lang="en-US" sz="3400" b="1" dirty="0">
                <a:solidFill>
                  <a:srgbClr val="12233F"/>
                </a:solidFill>
                <a:latin typeface="Calibri" pitchFamily="34" charset="0"/>
                <a:ea typeface="Calibri" pitchFamily="34" charset="-122"/>
                <a:cs typeface="Calibri" pitchFamily="34" charset="-120"/>
              </a:rPr>
              <a:t>How a turn flows</a:t>
            </a:r>
            <a:endParaRPr lang="en-US" sz="3400" dirty="0"/>
          </a:p>
        </p:txBody>
      </p:sp>
      <p:sp>
        <p:nvSpPr>
          <p:cNvPr id="4" name="Shape 2"/>
          <p:cNvSpPr/>
          <p:nvPr/>
        </p:nvSpPr>
        <p:spPr>
          <a:xfrm>
            <a:off x="594360" y="2148840"/>
            <a:ext cx="1965960" cy="1188720"/>
          </a:xfrm>
          <a:prstGeom prst="roundRect">
            <a:avLst>
              <a:gd name="adj" fmla="val 7692"/>
            </a:avLst>
          </a:prstGeom>
          <a:solidFill>
            <a:srgbClr val="1C3A5E"/>
          </a:solidFill>
          <a:ln/>
        </p:spPr>
      </p:sp>
      <p:sp>
        <p:nvSpPr>
          <p:cNvPr id="5" name="Text 3"/>
          <p:cNvSpPr txBox="1"/>
          <p:nvPr/>
        </p:nvSpPr>
        <p:spPr>
          <a:xfrm>
            <a:off x="594360" y="2148840"/>
            <a:ext cx="1965960" cy="1188720"/>
          </a:xfrm>
          <a:prstGeom prst="rect">
            <a:avLst/>
          </a:prstGeom>
          <a:noFill/>
          <a:ln/>
        </p:spPr>
        <p:txBody>
          <a:bodyPr wrap="square" lIns="0" tIns="0" rIns="0" bIns="0" rtlCol="0" anchor="ctr"/>
          <a:lstStyle/>
          <a:p>
            <a:pPr algn="ctr" indent="0" marL="0">
              <a:lnSpc>
                <a:spcPct val="105000"/>
              </a:lnSpc>
              <a:buNone/>
            </a:pPr>
            <a:r>
              <a:rPr lang="en-US" sz="1450" b="1" dirty="0">
                <a:solidFill>
                  <a:srgbClr val="FFFFFF"/>
                </a:solidFill>
                <a:latin typeface="Calibri" pitchFamily="34" charset="0"/>
                <a:ea typeface="Calibri" pitchFamily="34" charset="-122"/>
                <a:cs typeface="Calibri" pitchFamily="34" charset="-120"/>
              </a:rPr>
              <a:t>Student</a:t>
            </a:r>
            <a:endParaRPr lang="en-US" sz="1450" dirty="0"/>
          </a:p>
          <a:p>
            <a:pPr algn="ctr" indent="0" marL="0">
              <a:lnSpc>
                <a:spcPct val="105000"/>
              </a:lnSpc>
              <a:buNone/>
            </a:pPr>
            <a:r>
              <a:rPr lang="en-US" sz="1450" b="1" dirty="0">
                <a:solidFill>
                  <a:srgbClr val="FFFFFF"/>
                </a:solidFill>
                <a:latin typeface="Calibri" pitchFamily="34" charset="0"/>
                <a:ea typeface="Calibri" pitchFamily="34" charset="-122"/>
                <a:cs typeface="Calibri" pitchFamily="34" charset="-120"/>
              </a:rPr>
              <a:t>message</a:t>
            </a:r>
            <a:endParaRPr lang="en-US" sz="1450" dirty="0"/>
          </a:p>
        </p:txBody>
      </p:sp>
      <p:sp>
        <p:nvSpPr>
          <p:cNvPr id="6" name="Text 4"/>
          <p:cNvSpPr txBox="1"/>
          <p:nvPr/>
        </p:nvSpPr>
        <p:spPr>
          <a:xfrm>
            <a:off x="2560320" y="2148840"/>
            <a:ext cx="292608" cy="1188720"/>
          </a:xfrm>
          <a:prstGeom prst="rect">
            <a:avLst/>
          </a:prstGeom>
          <a:noFill/>
          <a:ln/>
        </p:spPr>
        <p:txBody>
          <a:bodyPr wrap="square" lIns="0" tIns="0" rIns="0" bIns="0" rtlCol="0" anchor="ctr"/>
          <a:lstStyle/>
          <a:p>
            <a:pPr algn="ctr" indent="0" marL="0">
              <a:buNone/>
            </a:pPr>
            <a:r>
              <a:rPr lang="en-US" sz="2200" b="1" dirty="0">
                <a:solidFill>
                  <a:srgbClr val="1FA9A0"/>
                </a:solidFill>
                <a:latin typeface="Calibri" pitchFamily="34" charset="0"/>
                <a:ea typeface="Calibri" pitchFamily="34" charset="-122"/>
                <a:cs typeface="Calibri" pitchFamily="34" charset="-120"/>
              </a:rPr>
              <a:t>→</a:t>
            </a:r>
            <a:endParaRPr lang="en-US" sz="2200" dirty="0"/>
          </a:p>
        </p:txBody>
      </p:sp>
      <p:sp>
        <p:nvSpPr>
          <p:cNvPr id="7" name="Shape 5"/>
          <p:cNvSpPr/>
          <p:nvPr/>
        </p:nvSpPr>
        <p:spPr>
          <a:xfrm>
            <a:off x="2852928" y="2148840"/>
            <a:ext cx="1965960" cy="1188720"/>
          </a:xfrm>
          <a:prstGeom prst="roundRect">
            <a:avLst>
              <a:gd name="adj" fmla="val 7692"/>
            </a:avLst>
          </a:prstGeom>
          <a:solidFill>
            <a:srgbClr val="1C3A5E"/>
          </a:solidFill>
          <a:ln/>
        </p:spPr>
      </p:sp>
      <p:sp>
        <p:nvSpPr>
          <p:cNvPr id="8" name="Text 6"/>
          <p:cNvSpPr txBox="1"/>
          <p:nvPr/>
        </p:nvSpPr>
        <p:spPr>
          <a:xfrm>
            <a:off x="2852928" y="2148840"/>
            <a:ext cx="1965960" cy="1188720"/>
          </a:xfrm>
          <a:prstGeom prst="rect">
            <a:avLst/>
          </a:prstGeom>
          <a:noFill/>
          <a:ln/>
        </p:spPr>
        <p:txBody>
          <a:bodyPr wrap="square" lIns="0" tIns="0" rIns="0" bIns="0" rtlCol="0" anchor="ctr"/>
          <a:lstStyle/>
          <a:p>
            <a:pPr algn="ctr" indent="0" marL="0">
              <a:lnSpc>
                <a:spcPct val="105000"/>
              </a:lnSpc>
              <a:buNone/>
            </a:pPr>
            <a:r>
              <a:rPr lang="en-US" sz="1450" b="1" dirty="0">
                <a:solidFill>
                  <a:srgbClr val="FFFFFF"/>
                </a:solidFill>
                <a:latin typeface="Calibri" pitchFamily="34" charset="0"/>
                <a:ea typeface="Calibri" pitchFamily="34" charset="-122"/>
                <a:cs typeface="Calibri" pitchFamily="34" charset="-120"/>
              </a:rPr>
              <a:t>Memory</a:t>
            </a:r>
            <a:endParaRPr lang="en-US" sz="1450" dirty="0"/>
          </a:p>
          <a:p>
            <a:pPr algn="ctr" indent="0" marL="0">
              <a:lnSpc>
                <a:spcPct val="105000"/>
              </a:lnSpc>
              <a:buNone/>
            </a:pPr>
            <a:r>
              <a:rPr lang="en-US" sz="1450" b="1" dirty="0">
                <a:solidFill>
                  <a:srgbClr val="FFFFFF"/>
                </a:solidFill>
                <a:latin typeface="Calibri" pitchFamily="34" charset="0"/>
                <a:ea typeface="Calibri" pitchFamily="34" charset="-122"/>
                <a:cs typeface="Calibri" pitchFamily="34" charset="-120"/>
              </a:rPr>
              <a:t>check</a:t>
            </a:r>
            <a:endParaRPr lang="en-US" sz="1450" dirty="0"/>
          </a:p>
        </p:txBody>
      </p:sp>
      <p:sp>
        <p:nvSpPr>
          <p:cNvPr id="9" name="Text 7"/>
          <p:cNvSpPr txBox="1"/>
          <p:nvPr/>
        </p:nvSpPr>
        <p:spPr>
          <a:xfrm>
            <a:off x="4818888" y="2148840"/>
            <a:ext cx="292608" cy="1188720"/>
          </a:xfrm>
          <a:prstGeom prst="rect">
            <a:avLst/>
          </a:prstGeom>
          <a:noFill/>
          <a:ln/>
        </p:spPr>
        <p:txBody>
          <a:bodyPr wrap="square" lIns="0" tIns="0" rIns="0" bIns="0" rtlCol="0" anchor="ctr"/>
          <a:lstStyle/>
          <a:p>
            <a:pPr algn="ctr" indent="0" marL="0">
              <a:buNone/>
            </a:pPr>
            <a:r>
              <a:rPr lang="en-US" sz="2200" b="1" dirty="0">
                <a:solidFill>
                  <a:srgbClr val="1FA9A0"/>
                </a:solidFill>
                <a:latin typeface="Calibri" pitchFamily="34" charset="0"/>
                <a:ea typeface="Calibri" pitchFamily="34" charset="-122"/>
                <a:cs typeface="Calibri" pitchFamily="34" charset="-120"/>
              </a:rPr>
              <a:t>→</a:t>
            </a:r>
            <a:endParaRPr lang="en-US" sz="2200" dirty="0"/>
          </a:p>
        </p:txBody>
      </p:sp>
      <p:sp>
        <p:nvSpPr>
          <p:cNvPr id="10" name="Shape 8"/>
          <p:cNvSpPr/>
          <p:nvPr/>
        </p:nvSpPr>
        <p:spPr>
          <a:xfrm>
            <a:off x="5111496" y="2148840"/>
            <a:ext cx="1965960" cy="1188720"/>
          </a:xfrm>
          <a:prstGeom prst="roundRect">
            <a:avLst>
              <a:gd name="adj" fmla="val 7692"/>
            </a:avLst>
          </a:prstGeom>
          <a:solidFill>
            <a:srgbClr val="1C3A5E"/>
          </a:solidFill>
          <a:ln/>
        </p:spPr>
      </p:sp>
      <p:sp>
        <p:nvSpPr>
          <p:cNvPr id="11" name="Text 9"/>
          <p:cNvSpPr txBox="1"/>
          <p:nvPr/>
        </p:nvSpPr>
        <p:spPr>
          <a:xfrm>
            <a:off x="5111496" y="2148840"/>
            <a:ext cx="1965960" cy="1188720"/>
          </a:xfrm>
          <a:prstGeom prst="rect">
            <a:avLst/>
          </a:prstGeom>
          <a:noFill/>
          <a:ln/>
        </p:spPr>
        <p:txBody>
          <a:bodyPr wrap="square" lIns="0" tIns="0" rIns="0" bIns="0" rtlCol="0" anchor="ctr"/>
          <a:lstStyle/>
          <a:p>
            <a:pPr algn="ctr" indent="0" marL="0">
              <a:lnSpc>
                <a:spcPct val="105000"/>
              </a:lnSpc>
              <a:buNone/>
            </a:pPr>
            <a:r>
              <a:rPr lang="en-US" sz="1450" b="1" dirty="0">
                <a:solidFill>
                  <a:srgbClr val="FFFFFF"/>
                </a:solidFill>
                <a:latin typeface="Calibri" pitchFamily="34" charset="0"/>
                <a:ea typeface="Calibri" pitchFamily="34" charset="-122"/>
                <a:cs typeface="Calibri" pitchFamily="34" charset="-120"/>
              </a:rPr>
              <a:t>Assess</a:t>
            </a:r>
            <a:endParaRPr lang="en-US" sz="1450" dirty="0"/>
          </a:p>
          <a:p>
            <a:pPr algn="ctr" indent="0" marL="0">
              <a:lnSpc>
                <a:spcPct val="105000"/>
              </a:lnSpc>
              <a:buNone/>
            </a:pPr>
            <a:r>
              <a:rPr lang="en-US" sz="1450" b="1" dirty="0">
                <a:solidFill>
                  <a:srgbClr val="FFFFFF"/>
                </a:solidFill>
                <a:latin typeface="Calibri" pitchFamily="34" charset="0"/>
                <a:ea typeface="Calibri" pitchFamily="34" charset="-122"/>
                <a:cs typeface="Calibri" pitchFamily="34" charset="-120"/>
              </a:rPr>
              <a:t>ambiguity</a:t>
            </a:r>
            <a:endParaRPr lang="en-US" sz="1450" dirty="0"/>
          </a:p>
        </p:txBody>
      </p:sp>
      <p:sp>
        <p:nvSpPr>
          <p:cNvPr id="12" name="Text 10"/>
          <p:cNvSpPr txBox="1"/>
          <p:nvPr/>
        </p:nvSpPr>
        <p:spPr>
          <a:xfrm>
            <a:off x="7077456" y="2148840"/>
            <a:ext cx="292608" cy="1188720"/>
          </a:xfrm>
          <a:prstGeom prst="rect">
            <a:avLst/>
          </a:prstGeom>
          <a:noFill/>
          <a:ln/>
        </p:spPr>
        <p:txBody>
          <a:bodyPr wrap="square" lIns="0" tIns="0" rIns="0" bIns="0" rtlCol="0" anchor="ctr"/>
          <a:lstStyle/>
          <a:p>
            <a:pPr algn="ctr" indent="0" marL="0">
              <a:buNone/>
            </a:pPr>
            <a:r>
              <a:rPr lang="en-US" sz="2200" b="1" dirty="0">
                <a:solidFill>
                  <a:srgbClr val="1FA9A0"/>
                </a:solidFill>
                <a:latin typeface="Calibri" pitchFamily="34" charset="0"/>
                <a:ea typeface="Calibri" pitchFamily="34" charset="-122"/>
                <a:cs typeface="Calibri" pitchFamily="34" charset="-120"/>
              </a:rPr>
              <a:t>→</a:t>
            </a:r>
            <a:endParaRPr lang="en-US" sz="2200" dirty="0"/>
          </a:p>
        </p:txBody>
      </p:sp>
      <p:sp>
        <p:nvSpPr>
          <p:cNvPr id="13" name="Shape 11"/>
          <p:cNvSpPr/>
          <p:nvPr/>
        </p:nvSpPr>
        <p:spPr>
          <a:xfrm>
            <a:off x="7370064" y="2148840"/>
            <a:ext cx="1965960" cy="1188720"/>
          </a:xfrm>
          <a:prstGeom prst="roundRect">
            <a:avLst>
              <a:gd name="adj" fmla="val 7692"/>
            </a:avLst>
          </a:prstGeom>
          <a:solidFill>
            <a:srgbClr val="1FA9A0"/>
          </a:solidFill>
          <a:ln/>
        </p:spPr>
      </p:sp>
      <p:sp>
        <p:nvSpPr>
          <p:cNvPr id="14" name="Text 12"/>
          <p:cNvSpPr txBox="1"/>
          <p:nvPr/>
        </p:nvSpPr>
        <p:spPr>
          <a:xfrm>
            <a:off x="7370064" y="2148840"/>
            <a:ext cx="1965960" cy="1188720"/>
          </a:xfrm>
          <a:prstGeom prst="rect">
            <a:avLst/>
          </a:prstGeom>
          <a:noFill/>
          <a:ln/>
        </p:spPr>
        <p:txBody>
          <a:bodyPr wrap="square" lIns="0" tIns="0" rIns="0" bIns="0" rtlCol="0" anchor="ctr"/>
          <a:lstStyle/>
          <a:p>
            <a:pPr algn="ctr" indent="0" marL="0">
              <a:lnSpc>
                <a:spcPct val="105000"/>
              </a:lnSpc>
              <a:buNone/>
            </a:pPr>
            <a:r>
              <a:rPr lang="en-US" sz="1450" b="1" dirty="0">
                <a:solidFill>
                  <a:srgbClr val="FFFFFF"/>
                </a:solidFill>
                <a:latin typeface="Calibri" pitchFamily="34" charset="0"/>
                <a:ea typeface="Calibri" pitchFamily="34" charset="-122"/>
                <a:cs typeface="Calibri" pitchFamily="34" charset="-120"/>
              </a:rPr>
              <a:t>Options</a:t>
            </a:r>
            <a:endParaRPr lang="en-US" sz="1450" dirty="0"/>
          </a:p>
          <a:p>
            <a:pPr algn="ctr" indent="0" marL="0">
              <a:lnSpc>
                <a:spcPct val="105000"/>
              </a:lnSpc>
              <a:buNone/>
            </a:pPr>
            <a:r>
              <a:rPr lang="en-US" sz="1450" b="1" dirty="0">
                <a:solidFill>
                  <a:srgbClr val="FFFFFF"/>
                </a:solidFill>
                <a:latin typeface="Calibri" pitchFamily="34" charset="0"/>
                <a:ea typeface="Calibri" pitchFamily="34" charset="-122"/>
                <a:cs typeface="Calibri" pitchFamily="34" charset="-120"/>
              </a:rPr>
              <a:t>or answer</a:t>
            </a:r>
            <a:endParaRPr lang="en-US" sz="1450" dirty="0"/>
          </a:p>
        </p:txBody>
      </p:sp>
      <p:sp>
        <p:nvSpPr>
          <p:cNvPr id="15" name="Text 13"/>
          <p:cNvSpPr txBox="1"/>
          <p:nvPr/>
        </p:nvSpPr>
        <p:spPr>
          <a:xfrm>
            <a:off x="9336024" y="2148840"/>
            <a:ext cx="292608" cy="1188720"/>
          </a:xfrm>
          <a:prstGeom prst="rect">
            <a:avLst/>
          </a:prstGeom>
          <a:noFill/>
          <a:ln/>
        </p:spPr>
        <p:txBody>
          <a:bodyPr wrap="square" lIns="0" tIns="0" rIns="0" bIns="0" rtlCol="0" anchor="ctr"/>
          <a:lstStyle/>
          <a:p>
            <a:pPr algn="ctr" indent="0" marL="0">
              <a:buNone/>
            </a:pPr>
            <a:r>
              <a:rPr lang="en-US" sz="2200" b="1" dirty="0">
                <a:solidFill>
                  <a:srgbClr val="1FA9A0"/>
                </a:solidFill>
                <a:latin typeface="Calibri" pitchFamily="34" charset="0"/>
                <a:ea typeface="Calibri" pitchFamily="34" charset="-122"/>
                <a:cs typeface="Calibri" pitchFamily="34" charset="-120"/>
              </a:rPr>
              <a:t>→</a:t>
            </a:r>
            <a:endParaRPr lang="en-US" sz="2200" dirty="0"/>
          </a:p>
        </p:txBody>
      </p:sp>
      <p:sp>
        <p:nvSpPr>
          <p:cNvPr id="16" name="Shape 14"/>
          <p:cNvSpPr/>
          <p:nvPr/>
        </p:nvSpPr>
        <p:spPr>
          <a:xfrm>
            <a:off x="9628632" y="2148840"/>
            <a:ext cx="1965960" cy="1188720"/>
          </a:xfrm>
          <a:prstGeom prst="roundRect">
            <a:avLst>
              <a:gd name="adj" fmla="val 7692"/>
            </a:avLst>
          </a:prstGeom>
          <a:solidFill>
            <a:srgbClr val="1C3A5E"/>
          </a:solidFill>
          <a:ln/>
        </p:spPr>
      </p:sp>
      <p:sp>
        <p:nvSpPr>
          <p:cNvPr id="17" name="Text 15"/>
          <p:cNvSpPr txBox="1"/>
          <p:nvPr/>
        </p:nvSpPr>
        <p:spPr>
          <a:xfrm>
            <a:off x="9628632" y="2148840"/>
            <a:ext cx="1965960" cy="1188720"/>
          </a:xfrm>
          <a:prstGeom prst="rect">
            <a:avLst/>
          </a:prstGeom>
          <a:noFill/>
          <a:ln/>
        </p:spPr>
        <p:txBody>
          <a:bodyPr wrap="square" lIns="0" tIns="0" rIns="0" bIns="0" rtlCol="0" anchor="ctr"/>
          <a:lstStyle/>
          <a:p>
            <a:pPr algn="ctr" indent="0" marL="0">
              <a:lnSpc>
                <a:spcPct val="105000"/>
              </a:lnSpc>
              <a:buNone/>
            </a:pPr>
            <a:r>
              <a:rPr lang="en-US" sz="1450" b="1" dirty="0">
                <a:solidFill>
                  <a:srgbClr val="FFFFFF"/>
                </a:solidFill>
                <a:latin typeface="Calibri" pitchFamily="34" charset="0"/>
                <a:ea typeface="Calibri" pitchFamily="34" charset="-122"/>
                <a:cs typeface="Calibri" pitchFamily="34" charset="-120"/>
              </a:rPr>
              <a:t>Write fact</a:t>
            </a:r>
            <a:endParaRPr lang="en-US" sz="1450" dirty="0"/>
          </a:p>
          <a:p>
            <a:pPr algn="ctr" indent="0" marL="0">
              <a:lnSpc>
                <a:spcPct val="105000"/>
              </a:lnSpc>
              <a:buNone/>
            </a:pPr>
            <a:r>
              <a:rPr lang="en-US" sz="1450" b="1" dirty="0">
                <a:solidFill>
                  <a:srgbClr val="FFFFFF"/>
                </a:solidFill>
                <a:latin typeface="Calibri" pitchFamily="34" charset="0"/>
                <a:ea typeface="Calibri" pitchFamily="34" charset="-122"/>
                <a:cs typeface="Calibri" pitchFamily="34" charset="-120"/>
              </a:rPr>
              <a:t>&amp; consolidate</a:t>
            </a:r>
            <a:endParaRPr lang="en-US" sz="1450" dirty="0"/>
          </a:p>
        </p:txBody>
      </p:sp>
      <p:sp>
        <p:nvSpPr>
          <p:cNvPr id="18" name="Text 16"/>
          <p:cNvSpPr txBox="1"/>
          <p:nvPr/>
        </p:nvSpPr>
        <p:spPr>
          <a:xfrm>
            <a:off x="548640" y="3611880"/>
            <a:ext cx="11091672" cy="457200"/>
          </a:xfrm>
          <a:prstGeom prst="rect">
            <a:avLst/>
          </a:prstGeom>
          <a:noFill/>
          <a:ln/>
        </p:spPr>
        <p:txBody>
          <a:bodyPr wrap="square" lIns="0" tIns="0" rIns="0" bIns="0" rtlCol="0" anchor="ctr"/>
          <a:lstStyle/>
          <a:p>
            <a:pPr algn="ctr" indent="0" marL="0">
              <a:buNone/>
            </a:pPr>
            <a:r>
              <a:rPr lang="en-US" sz="1300" i="1" dirty="0">
                <a:solidFill>
                  <a:srgbClr val="6B7A8D"/>
                </a:solidFill>
                <a:latin typeface="Calibri" pitchFamily="34" charset="0"/>
                <a:ea typeface="Calibri" pitchFamily="34" charset="-122"/>
                <a:cs typeface="Calibri" pitchFamily="34" charset="-120"/>
              </a:rPr>
              <a:t>Written facts feed back into the memory check on every future turn — so resolved ambiguity is never re-asked.</a:t>
            </a:r>
            <a:endParaRPr lang="en-US" sz="1300" dirty="0"/>
          </a:p>
        </p:txBody>
      </p:sp>
      <p:sp>
        <p:nvSpPr>
          <p:cNvPr id="19" name="Shape 17"/>
          <p:cNvSpPr/>
          <p:nvPr/>
        </p:nvSpPr>
        <p:spPr>
          <a:xfrm>
            <a:off x="470916" y="4434840"/>
            <a:ext cx="2606040" cy="1234440"/>
          </a:xfrm>
          <a:prstGeom prst="roundRect">
            <a:avLst>
              <a:gd name="adj" fmla="val 6667"/>
            </a:avLst>
          </a:prstGeom>
          <a:solidFill>
            <a:srgbClr val="F2F5F9"/>
          </a:solidFill>
          <a:ln w="12700">
            <a:solidFill>
              <a:srgbClr val="DFE6EE"/>
            </a:solidFill>
            <a:prstDash val="solid"/>
          </a:ln>
        </p:spPr>
      </p:sp>
      <p:sp>
        <p:nvSpPr>
          <p:cNvPr id="20" name="Text 18"/>
          <p:cNvSpPr txBox="1"/>
          <p:nvPr/>
        </p:nvSpPr>
        <p:spPr>
          <a:xfrm>
            <a:off x="653796" y="4636008"/>
            <a:ext cx="2240280" cy="320040"/>
          </a:xfrm>
          <a:prstGeom prst="rect">
            <a:avLst/>
          </a:prstGeom>
          <a:noFill/>
          <a:ln/>
        </p:spPr>
        <p:txBody>
          <a:bodyPr wrap="square" lIns="0" tIns="0" rIns="0" bIns="0" rtlCol="0" anchor="ctr"/>
          <a:lstStyle/>
          <a:p>
            <a:pPr algn="ctr" indent="0" marL="0">
              <a:buNone/>
            </a:pPr>
            <a:r>
              <a:rPr lang="en-US" sz="1100" b="1" spc="200" kern="0" dirty="0">
                <a:solidFill>
                  <a:srgbClr val="1FA9A0"/>
                </a:solidFill>
                <a:latin typeface="Calibri" pitchFamily="34" charset="0"/>
                <a:ea typeface="Calibri" pitchFamily="34" charset="-122"/>
                <a:cs typeface="Calibri" pitchFamily="34" charset="-120"/>
              </a:rPr>
              <a:t>INTERFACE</a:t>
            </a:r>
            <a:endParaRPr lang="en-US" sz="1100" dirty="0"/>
          </a:p>
        </p:txBody>
      </p:sp>
      <p:sp>
        <p:nvSpPr>
          <p:cNvPr id="21" name="Text 19"/>
          <p:cNvSpPr txBox="1"/>
          <p:nvPr/>
        </p:nvSpPr>
        <p:spPr>
          <a:xfrm>
            <a:off x="653796" y="5001768"/>
            <a:ext cx="2240280" cy="548640"/>
          </a:xfrm>
          <a:prstGeom prst="rect">
            <a:avLst/>
          </a:prstGeom>
          <a:noFill/>
          <a:ln/>
        </p:spPr>
        <p:txBody>
          <a:bodyPr wrap="square" lIns="0" tIns="0" rIns="0" bIns="0" rtlCol="0" anchor="t"/>
          <a:lstStyle/>
          <a:p>
            <a:pPr algn="ctr" indent="0" marL="0">
              <a:lnSpc>
                <a:spcPct val="110000"/>
              </a:lnSpc>
              <a:buNone/>
            </a:pPr>
            <a:r>
              <a:rPr lang="en-US" sz="1300" b="1" dirty="0">
                <a:solidFill>
                  <a:srgbClr val="12233F"/>
                </a:solidFill>
                <a:latin typeface="Calibri" pitchFamily="34" charset="0"/>
                <a:ea typeface="Calibri" pitchFamily="34" charset="-122"/>
                <a:cs typeface="Calibri" pitchFamily="34" charset="-120"/>
              </a:rPr>
              <a:t>Static single-page UI</a:t>
            </a:r>
            <a:endParaRPr lang="en-US" sz="1300" dirty="0"/>
          </a:p>
        </p:txBody>
      </p:sp>
      <p:sp>
        <p:nvSpPr>
          <p:cNvPr id="22" name="Shape 20"/>
          <p:cNvSpPr/>
          <p:nvPr/>
        </p:nvSpPr>
        <p:spPr>
          <a:xfrm>
            <a:off x="3351276" y="4434840"/>
            <a:ext cx="2606040" cy="1234440"/>
          </a:xfrm>
          <a:prstGeom prst="roundRect">
            <a:avLst>
              <a:gd name="adj" fmla="val 6667"/>
            </a:avLst>
          </a:prstGeom>
          <a:solidFill>
            <a:srgbClr val="F2F5F9"/>
          </a:solidFill>
          <a:ln w="12700">
            <a:solidFill>
              <a:srgbClr val="DFE6EE"/>
            </a:solidFill>
            <a:prstDash val="solid"/>
          </a:ln>
        </p:spPr>
      </p:sp>
      <p:sp>
        <p:nvSpPr>
          <p:cNvPr id="23" name="Text 21"/>
          <p:cNvSpPr txBox="1"/>
          <p:nvPr/>
        </p:nvSpPr>
        <p:spPr>
          <a:xfrm>
            <a:off x="3534156" y="4636008"/>
            <a:ext cx="2240280" cy="320040"/>
          </a:xfrm>
          <a:prstGeom prst="rect">
            <a:avLst/>
          </a:prstGeom>
          <a:noFill/>
          <a:ln/>
        </p:spPr>
        <p:txBody>
          <a:bodyPr wrap="square" lIns="0" tIns="0" rIns="0" bIns="0" rtlCol="0" anchor="ctr"/>
          <a:lstStyle/>
          <a:p>
            <a:pPr algn="ctr" indent="0" marL="0">
              <a:buNone/>
            </a:pPr>
            <a:r>
              <a:rPr lang="en-US" sz="1100" b="1" spc="200" kern="0" dirty="0">
                <a:solidFill>
                  <a:srgbClr val="1FA9A0"/>
                </a:solidFill>
                <a:latin typeface="Calibri" pitchFamily="34" charset="0"/>
                <a:ea typeface="Calibri" pitchFamily="34" charset="-122"/>
                <a:cs typeface="Calibri" pitchFamily="34" charset="-120"/>
              </a:rPr>
              <a:t>API</a:t>
            </a:r>
            <a:endParaRPr lang="en-US" sz="1100" dirty="0"/>
          </a:p>
        </p:txBody>
      </p:sp>
      <p:sp>
        <p:nvSpPr>
          <p:cNvPr id="24" name="Text 22"/>
          <p:cNvSpPr txBox="1"/>
          <p:nvPr/>
        </p:nvSpPr>
        <p:spPr>
          <a:xfrm>
            <a:off x="3534156" y="5001768"/>
            <a:ext cx="2240280" cy="548640"/>
          </a:xfrm>
          <a:prstGeom prst="rect">
            <a:avLst/>
          </a:prstGeom>
          <a:noFill/>
          <a:ln/>
        </p:spPr>
        <p:txBody>
          <a:bodyPr wrap="square" lIns="0" tIns="0" rIns="0" bIns="0" rtlCol="0" anchor="t"/>
          <a:lstStyle/>
          <a:p>
            <a:pPr algn="ctr" indent="0" marL="0">
              <a:lnSpc>
                <a:spcPct val="110000"/>
              </a:lnSpc>
              <a:buNone/>
            </a:pPr>
            <a:r>
              <a:rPr lang="en-US" sz="1300" b="1" dirty="0">
                <a:solidFill>
                  <a:srgbClr val="12233F"/>
                </a:solidFill>
                <a:latin typeface="Calibri" pitchFamily="34" charset="0"/>
                <a:ea typeface="Calibri" pitchFamily="34" charset="-122"/>
                <a:cs typeface="Calibri" pitchFamily="34" charset="-120"/>
              </a:rPr>
              <a:t>Starlette + Uvicorn (async)</a:t>
            </a:r>
            <a:endParaRPr lang="en-US" sz="1300" dirty="0"/>
          </a:p>
        </p:txBody>
      </p:sp>
      <p:sp>
        <p:nvSpPr>
          <p:cNvPr id="25" name="Shape 23"/>
          <p:cNvSpPr/>
          <p:nvPr/>
        </p:nvSpPr>
        <p:spPr>
          <a:xfrm>
            <a:off x="6231636" y="4434840"/>
            <a:ext cx="2606040" cy="1234440"/>
          </a:xfrm>
          <a:prstGeom prst="roundRect">
            <a:avLst>
              <a:gd name="adj" fmla="val 6667"/>
            </a:avLst>
          </a:prstGeom>
          <a:solidFill>
            <a:srgbClr val="F2F5F9"/>
          </a:solidFill>
          <a:ln w="12700">
            <a:solidFill>
              <a:srgbClr val="DFE6EE"/>
            </a:solidFill>
            <a:prstDash val="solid"/>
          </a:ln>
        </p:spPr>
      </p:sp>
      <p:sp>
        <p:nvSpPr>
          <p:cNvPr id="26" name="Text 24"/>
          <p:cNvSpPr txBox="1"/>
          <p:nvPr/>
        </p:nvSpPr>
        <p:spPr>
          <a:xfrm>
            <a:off x="6414516" y="4636008"/>
            <a:ext cx="2240280" cy="320040"/>
          </a:xfrm>
          <a:prstGeom prst="rect">
            <a:avLst/>
          </a:prstGeom>
          <a:noFill/>
          <a:ln/>
        </p:spPr>
        <p:txBody>
          <a:bodyPr wrap="square" lIns="0" tIns="0" rIns="0" bIns="0" rtlCol="0" anchor="ctr"/>
          <a:lstStyle/>
          <a:p>
            <a:pPr algn="ctr" indent="0" marL="0">
              <a:buNone/>
            </a:pPr>
            <a:r>
              <a:rPr lang="en-US" sz="1100" b="1" spc="200" kern="0" dirty="0">
                <a:solidFill>
                  <a:srgbClr val="1FA9A0"/>
                </a:solidFill>
                <a:latin typeface="Calibri" pitchFamily="34" charset="0"/>
                <a:ea typeface="Calibri" pitchFamily="34" charset="-122"/>
                <a:cs typeface="Calibri" pitchFamily="34" charset="-120"/>
              </a:rPr>
              <a:t>STORAGE</a:t>
            </a:r>
            <a:endParaRPr lang="en-US" sz="1100" dirty="0"/>
          </a:p>
        </p:txBody>
      </p:sp>
      <p:sp>
        <p:nvSpPr>
          <p:cNvPr id="27" name="Text 25"/>
          <p:cNvSpPr txBox="1"/>
          <p:nvPr/>
        </p:nvSpPr>
        <p:spPr>
          <a:xfrm>
            <a:off x="6414516" y="5001768"/>
            <a:ext cx="2240280" cy="548640"/>
          </a:xfrm>
          <a:prstGeom prst="rect">
            <a:avLst/>
          </a:prstGeom>
          <a:noFill/>
          <a:ln/>
        </p:spPr>
        <p:txBody>
          <a:bodyPr wrap="square" lIns="0" tIns="0" rIns="0" bIns="0" rtlCol="0" anchor="t"/>
          <a:lstStyle/>
          <a:p>
            <a:pPr algn="ctr" indent="0" marL="0">
              <a:lnSpc>
                <a:spcPct val="110000"/>
              </a:lnSpc>
              <a:buNone/>
            </a:pPr>
            <a:r>
              <a:rPr lang="en-US" sz="1300" b="1" dirty="0">
                <a:solidFill>
                  <a:srgbClr val="12233F"/>
                </a:solidFill>
                <a:latin typeface="Calibri" pitchFamily="34" charset="0"/>
                <a:ea typeface="Calibri" pitchFamily="34" charset="-122"/>
                <a:cs typeface="Calibri" pitchFamily="34" charset="-120"/>
              </a:rPr>
              <a:t>PostgreSQL 16 + pgvector</a:t>
            </a:r>
            <a:endParaRPr lang="en-US" sz="1300" dirty="0"/>
          </a:p>
        </p:txBody>
      </p:sp>
      <p:sp>
        <p:nvSpPr>
          <p:cNvPr id="28" name="Shape 26"/>
          <p:cNvSpPr/>
          <p:nvPr/>
        </p:nvSpPr>
        <p:spPr>
          <a:xfrm>
            <a:off x="9111996" y="4434840"/>
            <a:ext cx="2606040" cy="1234440"/>
          </a:xfrm>
          <a:prstGeom prst="roundRect">
            <a:avLst>
              <a:gd name="adj" fmla="val 6667"/>
            </a:avLst>
          </a:prstGeom>
          <a:solidFill>
            <a:srgbClr val="F2F5F9"/>
          </a:solidFill>
          <a:ln w="12700">
            <a:solidFill>
              <a:srgbClr val="DFE6EE"/>
            </a:solidFill>
            <a:prstDash val="solid"/>
          </a:ln>
        </p:spPr>
      </p:sp>
      <p:sp>
        <p:nvSpPr>
          <p:cNvPr id="29" name="Text 27"/>
          <p:cNvSpPr txBox="1"/>
          <p:nvPr/>
        </p:nvSpPr>
        <p:spPr>
          <a:xfrm>
            <a:off x="9294876" y="4636008"/>
            <a:ext cx="2240280" cy="320040"/>
          </a:xfrm>
          <a:prstGeom prst="rect">
            <a:avLst/>
          </a:prstGeom>
          <a:noFill/>
          <a:ln/>
        </p:spPr>
        <p:txBody>
          <a:bodyPr wrap="square" lIns="0" tIns="0" rIns="0" bIns="0" rtlCol="0" anchor="ctr"/>
          <a:lstStyle/>
          <a:p>
            <a:pPr algn="ctr" indent="0" marL="0">
              <a:buNone/>
            </a:pPr>
            <a:r>
              <a:rPr lang="en-US" sz="1100" b="1" spc="200" kern="0" dirty="0">
                <a:solidFill>
                  <a:srgbClr val="1FA9A0"/>
                </a:solidFill>
                <a:latin typeface="Calibri" pitchFamily="34" charset="0"/>
                <a:ea typeface="Calibri" pitchFamily="34" charset="-122"/>
                <a:cs typeface="Calibri" pitchFamily="34" charset="-120"/>
              </a:rPr>
              <a:t>INTELLIGENCE</a:t>
            </a:r>
            <a:endParaRPr lang="en-US" sz="1100" dirty="0"/>
          </a:p>
        </p:txBody>
      </p:sp>
      <p:sp>
        <p:nvSpPr>
          <p:cNvPr id="30" name="Text 28"/>
          <p:cNvSpPr txBox="1"/>
          <p:nvPr/>
        </p:nvSpPr>
        <p:spPr>
          <a:xfrm>
            <a:off x="9294876" y="5001768"/>
            <a:ext cx="2240280" cy="548640"/>
          </a:xfrm>
          <a:prstGeom prst="rect">
            <a:avLst/>
          </a:prstGeom>
          <a:noFill/>
          <a:ln/>
        </p:spPr>
        <p:txBody>
          <a:bodyPr wrap="square" lIns="0" tIns="0" rIns="0" bIns="0" rtlCol="0" anchor="t"/>
          <a:lstStyle/>
          <a:p>
            <a:pPr algn="ctr" indent="0" marL="0">
              <a:lnSpc>
                <a:spcPct val="110000"/>
              </a:lnSpc>
              <a:buNone/>
            </a:pPr>
            <a:r>
              <a:rPr lang="en-US" sz="1300" b="1" dirty="0">
                <a:solidFill>
                  <a:srgbClr val="12233F"/>
                </a:solidFill>
                <a:latin typeface="Calibri" pitchFamily="34" charset="0"/>
                <a:ea typeface="Calibri" pitchFamily="34" charset="-122"/>
                <a:cs typeface="Calibri" pitchFamily="34" charset="-120"/>
              </a:rPr>
              <a:t>Google Gemini API</a:t>
            </a:r>
            <a:endParaRPr lang="en-US" sz="1300" dirty="0"/>
          </a:p>
        </p:txBody>
      </p:sp>
      <p:sp>
        <p:nvSpPr>
          <p:cNvPr id="31" name="Text 29"/>
          <p:cNvSpPr txBox="1"/>
          <p:nvPr/>
        </p:nvSpPr>
        <p:spPr>
          <a:xfrm>
            <a:off x="10634472" y="6400800"/>
            <a:ext cx="1097280" cy="274320"/>
          </a:xfrm>
          <a:prstGeom prst="rect">
            <a:avLst/>
          </a:prstGeom>
          <a:noFill/>
          <a:ln/>
        </p:spPr>
        <p:txBody>
          <a:bodyPr wrap="square" lIns="0" tIns="0" rIns="0" bIns="0" rtlCol="0" anchor="ctr"/>
          <a:lstStyle/>
          <a:p>
            <a:pPr algn="r" indent="0" marL="0">
              <a:buNone/>
            </a:pPr>
            <a:r>
              <a:rPr lang="en-US" sz="900" dirty="0">
                <a:solidFill>
                  <a:srgbClr val="6B7A8D"/>
                </a:solidFill>
                <a:latin typeface="Calibri" pitchFamily="34" charset="0"/>
                <a:ea typeface="Calibri" pitchFamily="34" charset="-122"/>
                <a:cs typeface="Calibri" pitchFamily="34" charset="-120"/>
              </a:rPr>
              <a:t>06  /  10</a:t>
            </a:r>
            <a:endParaRPr lang="en-US" sz="900" dirty="0"/>
          </a:p>
        </p:txBody>
      </p:sp>
      <p:sp>
        <p:nvSpPr>
          <p:cNvPr id="32" name="Text 30"/>
          <p:cNvSpPr txBox="1"/>
          <p:nvPr/>
        </p:nvSpPr>
        <p:spPr>
          <a:xfrm>
            <a:off x="548640" y="6400800"/>
            <a:ext cx="1828800" cy="274320"/>
          </a:xfrm>
          <a:prstGeom prst="rect">
            <a:avLst/>
          </a:prstGeom>
          <a:noFill/>
          <a:ln/>
        </p:spPr>
        <p:txBody>
          <a:bodyPr wrap="square" lIns="0" tIns="0" rIns="0" bIns="0" rtlCol="0" anchor="ctr"/>
          <a:lstStyle/>
          <a:p>
            <a:pPr algn="l" indent="0" marL="0">
              <a:buNone/>
            </a:pPr>
            <a:r>
              <a:rPr lang="en-US" sz="900" b="1" spc="300" kern="0" dirty="0">
                <a:solidFill>
                  <a:srgbClr val="6B7A8D"/>
                </a:solidFill>
                <a:latin typeface="Calibri" pitchFamily="34" charset="0"/>
                <a:ea typeface="Calibri" pitchFamily="34" charset="-122"/>
                <a:cs typeface="Calibri" pitchFamily="34" charset="-120"/>
              </a:rPr>
              <a:t>VERSA</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502920"/>
            <a:ext cx="7315200" cy="320040"/>
          </a:xfrm>
          <a:prstGeom prst="rect">
            <a:avLst/>
          </a:prstGeom>
          <a:noFill/>
          <a:ln/>
        </p:spPr>
        <p:txBody>
          <a:bodyPr wrap="square" lIns="0" tIns="0" rIns="0" bIns="0" rtlCol="0" anchor="ctr"/>
          <a:lstStyle/>
          <a:p>
            <a:pPr algn="l" indent="0" marL="0">
              <a:buNone/>
            </a:pPr>
            <a:r>
              <a:rPr lang="en-US" sz="1200" b="1" spc="300" kern="0" dirty="0">
                <a:solidFill>
                  <a:srgbClr val="1FA9A0"/>
                </a:solidFill>
                <a:latin typeface="Calibri" pitchFamily="34" charset="0"/>
                <a:ea typeface="Calibri" pitchFamily="34" charset="-122"/>
                <a:cs typeface="Calibri" pitchFamily="34" charset="-120"/>
              </a:rPr>
              <a:t>AI TECHNOLOGIES USED</a:t>
            </a:r>
            <a:endParaRPr lang="en-US" sz="1200" dirty="0"/>
          </a:p>
        </p:txBody>
      </p:sp>
      <p:sp>
        <p:nvSpPr>
          <p:cNvPr id="3" name="Text 1"/>
          <p:cNvSpPr txBox="1"/>
          <p:nvPr/>
        </p:nvSpPr>
        <p:spPr>
          <a:xfrm>
            <a:off x="548640" y="822960"/>
            <a:ext cx="11091672" cy="822960"/>
          </a:xfrm>
          <a:prstGeom prst="rect">
            <a:avLst/>
          </a:prstGeom>
          <a:noFill/>
          <a:ln/>
        </p:spPr>
        <p:txBody>
          <a:bodyPr wrap="square" lIns="0" tIns="0" rIns="0" bIns="0" rtlCol="0" anchor="ctr"/>
          <a:lstStyle/>
          <a:p>
            <a:pPr algn="l" indent="0" marL="0">
              <a:buNone/>
            </a:pPr>
            <a:r>
              <a:rPr lang="en-US" sz="3400" b="1" dirty="0">
                <a:solidFill>
                  <a:srgbClr val="12233F"/>
                </a:solidFill>
                <a:latin typeface="Calibri" pitchFamily="34" charset="0"/>
                <a:ea typeface="Calibri" pitchFamily="34" charset="-122"/>
                <a:cs typeface="Calibri" pitchFamily="34" charset="-120"/>
              </a:rPr>
              <a:t>The intelligence layer</a:t>
            </a:r>
            <a:endParaRPr lang="en-US" sz="3400" dirty="0"/>
          </a:p>
        </p:txBody>
      </p:sp>
      <p:sp>
        <p:nvSpPr>
          <p:cNvPr id="4" name="Shape 2"/>
          <p:cNvSpPr/>
          <p:nvPr/>
        </p:nvSpPr>
        <p:spPr>
          <a:xfrm>
            <a:off x="548640" y="1783080"/>
            <a:ext cx="5349240" cy="1737360"/>
          </a:xfrm>
          <a:prstGeom prst="roundRect">
            <a:avLst>
              <a:gd name="adj" fmla="val 4737"/>
            </a:avLst>
          </a:prstGeom>
          <a:solidFill>
            <a:srgbClr val="F2F5F9"/>
          </a:solidFill>
          <a:ln w="12700">
            <a:solidFill>
              <a:srgbClr val="DFE6EE"/>
            </a:solidFill>
            <a:prstDash val="solid"/>
          </a:ln>
        </p:spPr>
      </p:sp>
      <p:sp>
        <p:nvSpPr>
          <p:cNvPr id="5" name="Shape 3"/>
          <p:cNvSpPr/>
          <p:nvPr/>
        </p:nvSpPr>
        <p:spPr>
          <a:xfrm>
            <a:off x="841248" y="2075688"/>
            <a:ext cx="548640" cy="548640"/>
          </a:xfrm>
          <a:prstGeom prst="ellipse">
            <a:avLst/>
          </a:prstGeom>
          <a:solidFill>
            <a:srgbClr val="1C3A5E"/>
          </a:solidFill>
          <a:ln/>
        </p:spPr>
      </p:sp>
      <p:sp>
        <p:nvSpPr>
          <p:cNvPr id="6" name="Text 4"/>
          <p:cNvSpPr txBox="1"/>
          <p:nvPr/>
        </p:nvSpPr>
        <p:spPr>
          <a:xfrm>
            <a:off x="841248" y="207568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AI</a:t>
            </a:r>
            <a:endParaRPr lang="en-US" sz="1800" dirty="0"/>
          </a:p>
        </p:txBody>
      </p:sp>
      <p:sp>
        <p:nvSpPr>
          <p:cNvPr id="7" name="Text 5"/>
          <p:cNvSpPr txBox="1"/>
          <p:nvPr/>
        </p:nvSpPr>
        <p:spPr>
          <a:xfrm>
            <a:off x="1600200" y="2057400"/>
            <a:ext cx="4069080" cy="640080"/>
          </a:xfrm>
          <a:prstGeom prst="rect">
            <a:avLst/>
          </a:prstGeom>
          <a:noFill/>
          <a:ln/>
        </p:spPr>
        <p:txBody>
          <a:bodyPr wrap="square" lIns="0" tIns="0" rIns="0" bIns="0" rtlCol="0" anchor="ctr"/>
          <a:lstStyle/>
          <a:p>
            <a:pPr indent="0" marL="0">
              <a:lnSpc>
                <a:spcPct val="100000"/>
              </a:lnSpc>
              <a:buNone/>
            </a:pPr>
            <a:r>
              <a:rPr lang="en-US" sz="1600" b="1" dirty="0">
                <a:solidFill>
                  <a:srgbClr val="12233F"/>
                </a:solidFill>
                <a:latin typeface="Calibri" pitchFamily="34" charset="0"/>
                <a:ea typeface="Calibri" pitchFamily="34" charset="-122"/>
                <a:cs typeface="Calibri" pitchFamily="34" charset="-120"/>
              </a:rPr>
              <a:t>Google Gemini — tiered models</a:t>
            </a:r>
            <a:endParaRPr lang="en-US" sz="1600" dirty="0"/>
          </a:p>
        </p:txBody>
      </p:sp>
      <p:sp>
        <p:nvSpPr>
          <p:cNvPr id="8" name="Text 6"/>
          <p:cNvSpPr txBox="1"/>
          <p:nvPr/>
        </p:nvSpPr>
        <p:spPr>
          <a:xfrm>
            <a:off x="859536" y="2715768"/>
            <a:ext cx="4754880" cy="731520"/>
          </a:xfrm>
          <a:prstGeom prst="rect">
            <a:avLst/>
          </a:prstGeom>
          <a:noFill/>
          <a:ln/>
        </p:spPr>
        <p:txBody>
          <a:bodyPr wrap="square" lIns="0" tIns="0" rIns="0" bIns="0" rtlCol="0" anchor="ctr"/>
          <a:lstStyle/>
          <a:p>
            <a:pPr indent="0" marL="0">
              <a:lnSpc>
                <a:spcPct val="122000"/>
              </a:lnSpc>
              <a:buNone/>
            </a:pPr>
            <a:r>
              <a:rPr lang="en-US" sz="1250" dirty="0">
                <a:solidFill>
                  <a:srgbClr val="1E2A3A"/>
                </a:solidFill>
                <a:latin typeface="Calibri" pitchFamily="34" charset="0"/>
                <a:ea typeface="Calibri" pitchFamily="34" charset="-122"/>
                <a:cs typeface="Calibri" pitchFamily="34" charset="-120"/>
              </a:rPr>
              <a:t>A fast tier (gemini-3.6-flash) handles ambiguity detection, option generation and memory checks; a high-quality tier (gemini-3.5-flash) writes the final answer.</a:t>
            </a:r>
            <a:endParaRPr lang="en-US" sz="1250" dirty="0"/>
          </a:p>
        </p:txBody>
      </p:sp>
      <p:sp>
        <p:nvSpPr>
          <p:cNvPr id="9" name="Shape 7"/>
          <p:cNvSpPr/>
          <p:nvPr/>
        </p:nvSpPr>
        <p:spPr>
          <a:xfrm>
            <a:off x="6217920" y="1783080"/>
            <a:ext cx="5349240" cy="1737360"/>
          </a:xfrm>
          <a:prstGeom prst="roundRect">
            <a:avLst>
              <a:gd name="adj" fmla="val 4737"/>
            </a:avLst>
          </a:prstGeom>
          <a:solidFill>
            <a:srgbClr val="F2F5F9"/>
          </a:solidFill>
          <a:ln w="12700">
            <a:solidFill>
              <a:srgbClr val="DFE6EE"/>
            </a:solidFill>
            <a:prstDash val="solid"/>
          </a:ln>
        </p:spPr>
      </p:sp>
      <p:sp>
        <p:nvSpPr>
          <p:cNvPr id="10" name="Shape 8"/>
          <p:cNvSpPr/>
          <p:nvPr/>
        </p:nvSpPr>
        <p:spPr>
          <a:xfrm>
            <a:off x="6510528" y="2075688"/>
            <a:ext cx="548640" cy="548640"/>
          </a:xfrm>
          <a:prstGeom prst="ellipse">
            <a:avLst/>
          </a:prstGeom>
          <a:solidFill>
            <a:srgbClr val="1FA9A0"/>
          </a:solidFill>
          <a:ln/>
        </p:spPr>
      </p:sp>
      <p:sp>
        <p:nvSpPr>
          <p:cNvPr id="11" name="Text 9"/>
          <p:cNvSpPr txBox="1"/>
          <p:nvPr/>
        </p:nvSpPr>
        <p:spPr>
          <a:xfrm>
            <a:off x="6510528" y="207568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AI</a:t>
            </a:r>
            <a:endParaRPr lang="en-US" sz="1800" dirty="0"/>
          </a:p>
        </p:txBody>
      </p:sp>
      <p:sp>
        <p:nvSpPr>
          <p:cNvPr id="12" name="Text 10"/>
          <p:cNvSpPr txBox="1"/>
          <p:nvPr/>
        </p:nvSpPr>
        <p:spPr>
          <a:xfrm>
            <a:off x="7269480" y="2057400"/>
            <a:ext cx="4069080" cy="640080"/>
          </a:xfrm>
          <a:prstGeom prst="rect">
            <a:avLst/>
          </a:prstGeom>
          <a:noFill/>
          <a:ln/>
        </p:spPr>
        <p:txBody>
          <a:bodyPr wrap="square" lIns="0" tIns="0" rIns="0" bIns="0" rtlCol="0" anchor="ctr"/>
          <a:lstStyle/>
          <a:p>
            <a:pPr indent="0" marL="0">
              <a:lnSpc>
                <a:spcPct val="100000"/>
              </a:lnSpc>
              <a:buNone/>
            </a:pPr>
            <a:r>
              <a:rPr lang="en-US" sz="1600" b="1" dirty="0">
                <a:solidFill>
                  <a:srgbClr val="12233F"/>
                </a:solidFill>
                <a:latin typeface="Calibri" pitchFamily="34" charset="0"/>
                <a:ea typeface="Calibri" pitchFamily="34" charset="-122"/>
                <a:cs typeface="Calibri" pitchFamily="34" charset="-120"/>
              </a:rPr>
              <a:t>Vector embeddings</a:t>
            </a:r>
            <a:endParaRPr lang="en-US" sz="1600" dirty="0"/>
          </a:p>
        </p:txBody>
      </p:sp>
      <p:sp>
        <p:nvSpPr>
          <p:cNvPr id="13" name="Text 11"/>
          <p:cNvSpPr txBox="1"/>
          <p:nvPr/>
        </p:nvSpPr>
        <p:spPr>
          <a:xfrm>
            <a:off x="6528816" y="2715768"/>
            <a:ext cx="4754880" cy="731520"/>
          </a:xfrm>
          <a:prstGeom prst="rect">
            <a:avLst/>
          </a:prstGeom>
          <a:noFill/>
          <a:ln/>
        </p:spPr>
        <p:txBody>
          <a:bodyPr wrap="square" lIns="0" tIns="0" rIns="0" bIns="0" rtlCol="0" anchor="ctr"/>
          <a:lstStyle/>
          <a:p>
            <a:pPr indent="0" marL="0">
              <a:lnSpc>
                <a:spcPct val="122000"/>
              </a:lnSpc>
              <a:buNone/>
            </a:pPr>
            <a:r>
              <a:rPr lang="en-US" sz="1250" dirty="0">
                <a:solidFill>
                  <a:srgbClr val="1E2A3A"/>
                </a:solidFill>
                <a:latin typeface="Calibri" pitchFamily="34" charset="0"/>
                <a:ea typeface="Calibri" pitchFamily="34" charset="-122"/>
                <a:cs typeface="Calibri" pitchFamily="34" charset="-120"/>
              </a:rPr>
              <a:t>gemini-embedding-001 turns every question and resolved fact into a vector, powering the semantic memory that skips repeat questions.</a:t>
            </a:r>
            <a:endParaRPr lang="en-US" sz="1250" dirty="0"/>
          </a:p>
        </p:txBody>
      </p:sp>
      <p:sp>
        <p:nvSpPr>
          <p:cNvPr id="14" name="Shape 12"/>
          <p:cNvSpPr/>
          <p:nvPr/>
        </p:nvSpPr>
        <p:spPr>
          <a:xfrm>
            <a:off x="548640" y="3794760"/>
            <a:ext cx="5349240" cy="1737360"/>
          </a:xfrm>
          <a:prstGeom prst="roundRect">
            <a:avLst>
              <a:gd name="adj" fmla="val 4737"/>
            </a:avLst>
          </a:prstGeom>
          <a:solidFill>
            <a:srgbClr val="F2F5F9"/>
          </a:solidFill>
          <a:ln w="12700">
            <a:solidFill>
              <a:srgbClr val="DFE6EE"/>
            </a:solidFill>
            <a:prstDash val="solid"/>
          </a:ln>
        </p:spPr>
      </p:sp>
      <p:sp>
        <p:nvSpPr>
          <p:cNvPr id="15" name="Shape 13"/>
          <p:cNvSpPr/>
          <p:nvPr/>
        </p:nvSpPr>
        <p:spPr>
          <a:xfrm>
            <a:off x="841248" y="4087368"/>
            <a:ext cx="548640" cy="548640"/>
          </a:xfrm>
          <a:prstGeom prst="ellipse">
            <a:avLst/>
          </a:prstGeom>
          <a:solidFill>
            <a:srgbClr val="4A80C7"/>
          </a:solidFill>
          <a:ln/>
        </p:spPr>
      </p:sp>
      <p:sp>
        <p:nvSpPr>
          <p:cNvPr id="16" name="Text 14"/>
          <p:cNvSpPr txBox="1"/>
          <p:nvPr/>
        </p:nvSpPr>
        <p:spPr>
          <a:xfrm>
            <a:off x="841248" y="408736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AI</a:t>
            </a:r>
            <a:endParaRPr lang="en-US" sz="1800" dirty="0"/>
          </a:p>
        </p:txBody>
      </p:sp>
      <p:sp>
        <p:nvSpPr>
          <p:cNvPr id="17" name="Text 15"/>
          <p:cNvSpPr txBox="1"/>
          <p:nvPr/>
        </p:nvSpPr>
        <p:spPr>
          <a:xfrm>
            <a:off x="1600200" y="4069080"/>
            <a:ext cx="4069080" cy="640080"/>
          </a:xfrm>
          <a:prstGeom prst="rect">
            <a:avLst/>
          </a:prstGeom>
          <a:noFill/>
          <a:ln/>
        </p:spPr>
        <p:txBody>
          <a:bodyPr wrap="square" lIns="0" tIns="0" rIns="0" bIns="0" rtlCol="0" anchor="ctr"/>
          <a:lstStyle/>
          <a:p>
            <a:pPr indent="0" marL="0">
              <a:lnSpc>
                <a:spcPct val="100000"/>
              </a:lnSpc>
              <a:buNone/>
            </a:pPr>
            <a:r>
              <a:rPr lang="en-US" sz="1600" b="1" dirty="0">
                <a:solidFill>
                  <a:srgbClr val="12233F"/>
                </a:solidFill>
                <a:latin typeface="Calibri" pitchFamily="34" charset="0"/>
                <a:ea typeface="Calibri" pitchFamily="34" charset="-122"/>
                <a:cs typeface="Calibri" pitchFamily="34" charset="-120"/>
              </a:rPr>
              <a:t>pgvector retrieval</a:t>
            </a:r>
            <a:endParaRPr lang="en-US" sz="1600" dirty="0"/>
          </a:p>
        </p:txBody>
      </p:sp>
      <p:sp>
        <p:nvSpPr>
          <p:cNvPr id="18" name="Text 16"/>
          <p:cNvSpPr txBox="1"/>
          <p:nvPr/>
        </p:nvSpPr>
        <p:spPr>
          <a:xfrm>
            <a:off x="859536" y="4727448"/>
            <a:ext cx="4754880" cy="731520"/>
          </a:xfrm>
          <a:prstGeom prst="rect">
            <a:avLst/>
          </a:prstGeom>
          <a:noFill/>
          <a:ln/>
        </p:spPr>
        <p:txBody>
          <a:bodyPr wrap="square" lIns="0" tIns="0" rIns="0" bIns="0" rtlCol="0" anchor="ctr"/>
          <a:lstStyle/>
          <a:p>
            <a:pPr indent="0" marL="0">
              <a:lnSpc>
                <a:spcPct val="122000"/>
              </a:lnSpc>
              <a:buNone/>
            </a:pPr>
            <a:r>
              <a:rPr lang="en-US" sz="1250" dirty="0">
                <a:solidFill>
                  <a:srgbClr val="1E2A3A"/>
                </a:solidFill>
                <a:latin typeface="Calibri" pitchFamily="34" charset="0"/>
                <a:ea typeface="Calibri" pitchFamily="34" charset="-122"/>
                <a:cs typeface="Calibri" pitchFamily="34" charset="-120"/>
              </a:rPr>
              <a:t>Deterministic, three-stage ANN search over a learner's history and population-level patterns — no LLM call in the retrieval path.</a:t>
            </a:r>
            <a:endParaRPr lang="en-US" sz="1250" dirty="0"/>
          </a:p>
        </p:txBody>
      </p:sp>
      <p:sp>
        <p:nvSpPr>
          <p:cNvPr id="19" name="Shape 17"/>
          <p:cNvSpPr/>
          <p:nvPr/>
        </p:nvSpPr>
        <p:spPr>
          <a:xfrm>
            <a:off x="6217920" y="3794760"/>
            <a:ext cx="5349240" cy="1737360"/>
          </a:xfrm>
          <a:prstGeom prst="roundRect">
            <a:avLst>
              <a:gd name="adj" fmla="val 4737"/>
            </a:avLst>
          </a:prstGeom>
          <a:solidFill>
            <a:srgbClr val="F2F5F9"/>
          </a:solidFill>
          <a:ln w="12700">
            <a:solidFill>
              <a:srgbClr val="DFE6EE"/>
            </a:solidFill>
            <a:prstDash val="solid"/>
          </a:ln>
        </p:spPr>
      </p:sp>
      <p:sp>
        <p:nvSpPr>
          <p:cNvPr id="20" name="Shape 18"/>
          <p:cNvSpPr/>
          <p:nvPr/>
        </p:nvSpPr>
        <p:spPr>
          <a:xfrm>
            <a:off x="6510528" y="4087368"/>
            <a:ext cx="548640" cy="548640"/>
          </a:xfrm>
          <a:prstGeom prst="ellipse">
            <a:avLst/>
          </a:prstGeom>
          <a:solidFill>
            <a:srgbClr val="1C3A5E"/>
          </a:solidFill>
          <a:ln/>
        </p:spPr>
      </p:sp>
      <p:sp>
        <p:nvSpPr>
          <p:cNvPr id="21" name="Text 19"/>
          <p:cNvSpPr txBox="1"/>
          <p:nvPr/>
        </p:nvSpPr>
        <p:spPr>
          <a:xfrm>
            <a:off x="6510528" y="408736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AI</a:t>
            </a:r>
            <a:endParaRPr lang="en-US" sz="1800" dirty="0"/>
          </a:p>
        </p:txBody>
      </p:sp>
      <p:sp>
        <p:nvSpPr>
          <p:cNvPr id="22" name="Text 20"/>
          <p:cNvSpPr txBox="1"/>
          <p:nvPr/>
        </p:nvSpPr>
        <p:spPr>
          <a:xfrm>
            <a:off x="7269480" y="4069080"/>
            <a:ext cx="4069080" cy="640080"/>
          </a:xfrm>
          <a:prstGeom prst="rect">
            <a:avLst/>
          </a:prstGeom>
          <a:noFill/>
          <a:ln/>
        </p:spPr>
        <p:txBody>
          <a:bodyPr wrap="square" lIns="0" tIns="0" rIns="0" bIns="0" rtlCol="0" anchor="ctr"/>
          <a:lstStyle/>
          <a:p>
            <a:pPr indent="0" marL="0">
              <a:lnSpc>
                <a:spcPct val="100000"/>
              </a:lnSpc>
              <a:buNone/>
            </a:pPr>
            <a:r>
              <a:rPr lang="en-US" sz="1600" b="1" dirty="0">
                <a:solidFill>
                  <a:srgbClr val="12233F"/>
                </a:solidFill>
                <a:latin typeface="Calibri" pitchFamily="34" charset="0"/>
                <a:ea typeface="Calibri" pitchFamily="34" charset="-122"/>
                <a:cs typeface="Calibri" pitchFamily="34" charset="-120"/>
              </a:rPr>
              <a:t>Deterministic evidence contracts</a:t>
            </a:r>
            <a:endParaRPr lang="en-US" sz="1600" dirty="0"/>
          </a:p>
        </p:txBody>
      </p:sp>
      <p:sp>
        <p:nvSpPr>
          <p:cNvPr id="23" name="Text 21"/>
          <p:cNvSpPr txBox="1"/>
          <p:nvPr/>
        </p:nvSpPr>
        <p:spPr>
          <a:xfrm>
            <a:off x="6528816" y="4727448"/>
            <a:ext cx="4754880" cy="731520"/>
          </a:xfrm>
          <a:prstGeom prst="rect">
            <a:avLst/>
          </a:prstGeom>
          <a:noFill/>
          <a:ln/>
        </p:spPr>
        <p:txBody>
          <a:bodyPr wrap="square" lIns="0" tIns="0" rIns="0" bIns="0" rtlCol="0" anchor="ctr"/>
          <a:lstStyle/>
          <a:p>
            <a:pPr indent="0" marL="0">
              <a:lnSpc>
                <a:spcPct val="122000"/>
              </a:lnSpc>
              <a:buNone/>
            </a:pPr>
            <a:r>
              <a:rPr lang="en-US" sz="1250" dirty="0">
                <a:solidFill>
                  <a:srgbClr val="1E2A3A"/>
                </a:solidFill>
                <a:latin typeface="Calibri" pitchFamily="34" charset="0"/>
                <a:ea typeface="Calibri" pitchFamily="34" charset="-122"/>
                <a:cs typeface="Calibri" pitchFamily="34" charset="-120"/>
              </a:rPr>
              <a:t>Instruments interpret learner interactions with hand-written rules, never an LLM guessing — keeping fabricated 'insights' out of the record.</a:t>
            </a:r>
            <a:endParaRPr lang="en-US" sz="1250" dirty="0"/>
          </a:p>
        </p:txBody>
      </p:sp>
      <p:sp>
        <p:nvSpPr>
          <p:cNvPr id="24" name="Text 22"/>
          <p:cNvSpPr txBox="1"/>
          <p:nvPr/>
        </p:nvSpPr>
        <p:spPr>
          <a:xfrm>
            <a:off x="10634472" y="6400800"/>
            <a:ext cx="1097280" cy="274320"/>
          </a:xfrm>
          <a:prstGeom prst="rect">
            <a:avLst/>
          </a:prstGeom>
          <a:noFill/>
          <a:ln/>
        </p:spPr>
        <p:txBody>
          <a:bodyPr wrap="square" lIns="0" tIns="0" rIns="0" bIns="0" rtlCol="0" anchor="ctr"/>
          <a:lstStyle/>
          <a:p>
            <a:pPr algn="r" indent="0" marL="0">
              <a:buNone/>
            </a:pPr>
            <a:r>
              <a:rPr lang="en-US" sz="900" dirty="0">
                <a:solidFill>
                  <a:srgbClr val="6B7A8D"/>
                </a:solidFill>
                <a:latin typeface="Calibri" pitchFamily="34" charset="0"/>
                <a:ea typeface="Calibri" pitchFamily="34" charset="-122"/>
                <a:cs typeface="Calibri" pitchFamily="34" charset="-120"/>
              </a:rPr>
              <a:t>07  /  10</a:t>
            </a:r>
            <a:endParaRPr lang="en-US" sz="900" dirty="0"/>
          </a:p>
        </p:txBody>
      </p:sp>
      <p:sp>
        <p:nvSpPr>
          <p:cNvPr id="25" name="Text 23"/>
          <p:cNvSpPr txBox="1"/>
          <p:nvPr/>
        </p:nvSpPr>
        <p:spPr>
          <a:xfrm>
            <a:off x="548640" y="6400800"/>
            <a:ext cx="1828800" cy="274320"/>
          </a:xfrm>
          <a:prstGeom prst="rect">
            <a:avLst/>
          </a:prstGeom>
          <a:noFill/>
          <a:ln/>
        </p:spPr>
        <p:txBody>
          <a:bodyPr wrap="square" lIns="0" tIns="0" rIns="0" bIns="0" rtlCol="0" anchor="ctr"/>
          <a:lstStyle/>
          <a:p>
            <a:pPr algn="l" indent="0" marL="0">
              <a:buNone/>
            </a:pPr>
            <a:r>
              <a:rPr lang="en-US" sz="900" b="1" spc="300" kern="0" dirty="0">
                <a:solidFill>
                  <a:srgbClr val="6B7A8D"/>
                </a:solidFill>
                <a:latin typeface="Calibri" pitchFamily="34" charset="0"/>
                <a:ea typeface="Calibri" pitchFamily="34" charset="-122"/>
                <a:cs typeface="Calibri" pitchFamily="34" charset="-120"/>
              </a:rPr>
              <a:t>VERSA</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233F"/>
        </a:solidFill>
      </p:bgPr>
    </p:bg>
    <p:spTree>
      <p:nvGrpSpPr>
        <p:cNvPr id="1" name=""/>
        <p:cNvGrpSpPr/>
        <p:nvPr/>
      </p:nvGrpSpPr>
      <p:grpSpPr>
        <a:xfrm>
          <a:off x="0" y="0"/>
          <a:ext cx="0" cy="0"/>
          <a:chOff x="0" y="0"/>
          <a:chExt cx="0" cy="0"/>
        </a:xfrm>
      </p:grpSpPr>
      <p:sp>
        <p:nvSpPr>
          <p:cNvPr id="2" name="Text 0"/>
          <p:cNvSpPr txBox="1"/>
          <p:nvPr/>
        </p:nvSpPr>
        <p:spPr>
          <a:xfrm>
            <a:off x="548640" y="502920"/>
            <a:ext cx="9144000" cy="320040"/>
          </a:xfrm>
          <a:prstGeom prst="rect">
            <a:avLst/>
          </a:prstGeom>
          <a:noFill/>
          <a:ln/>
        </p:spPr>
        <p:txBody>
          <a:bodyPr wrap="square" lIns="0" tIns="0" rIns="0" bIns="0" rtlCol="0" anchor="ctr"/>
          <a:lstStyle/>
          <a:p>
            <a:pPr indent="0" marL="0">
              <a:buNone/>
            </a:pPr>
            <a:r>
              <a:rPr lang="en-US" sz="1200" b="1" spc="300" kern="0" dirty="0">
                <a:solidFill>
                  <a:srgbClr val="1FA9A0"/>
                </a:solidFill>
                <a:latin typeface="Calibri" pitchFamily="34" charset="0"/>
                <a:ea typeface="Calibri" pitchFamily="34" charset="-122"/>
                <a:cs typeface="Calibri" pitchFamily="34" charset="-120"/>
              </a:rPr>
              <a:t>IMPACT &amp; VALUE PROPOSITION</a:t>
            </a:r>
            <a:endParaRPr lang="en-US" sz="1200" dirty="0"/>
          </a:p>
        </p:txBody>
      </p:sp>
      <p:sp>
        <p:nvSpPr>
          <p:cNvPr id="3" name="Text 1"/>
          <p:cNvSpPr txBox="1"/>
          <p:nvPr/>
        </p:nvSpPr>
        <p:spPr>
          <a:xfrm>
            <a:off x="548640" y="822960"/>
            <a:ext cx="11091672" cy="82296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Built on evidence, not assumptions</a:t>
            </a:r>
            <a:endParaRPr lang="en-US" sz="3400" dirty="0"/>
          </a:p>
        </p:txBody>
      </p:sp>
      <p:sp>
        <p:nvSpPr>
          <p:cNvPr id="4" name="Shape 2"/>
          <p:cNvSpPr/>
          <p:nvPr/>
        </p:nvSpPr>
        <p:spPr>
          <a:xfrm>
            <a:off x="548640" y="1874520"/>
            <a:ext cx="5349240" cy="1691640"/>
          </a:xfrm>
          <a:prstGeom prst="roundRect">
            <a:avLst>
              <a:gd name="adj" fmla="val 5405"/>
            </a:avLst>
          </a:prstGeom>
          <a:solidFill>
            <a:srgbClr val="1C3A5E"/>
          </a:solidFill>
          <a:ln/>
        </p:spPr>
      </p:sp>
      <p:sp>
        <p:nvSpPr>
          <p:cNvPr id="5" name="Text 3"/>
          <p:cNvSpPr txBox="1"/>
          <p:nvPr/>
        </p:nvSpPr>
        <p:spPr>
          <a:xfrm>
            <a:off x="822960" y="2057400"/>
            <a:ext cx="2377440" cy="1325880"/>
          </a:xfrm>
          <a:prstGeom prst="rect">
            <a:avLst/>
          </a:prstGeom>
          <a:noFill/>
          <a:ln/>
        </p:spPr>
        <p:txBody>
          <a:bodyPr wrap="square" lIns="0" tIns="0" rIns="0" bIns="0" rtlCol="0" anchor="ctr"/>
          <a:lstStyle/>
          <a:p>
            <a:pPr algn="ctr" indent="0" marL="0">
              <a:buNone/>
            </a:pPr>
            <a:r>
              <a:rPr lang="en-US" sz="5000" b="1" dirty="0">
                <a:solidFill>
                  <a:srgbClr val="1FA9A0"/>
                </a:solidFill>
                <a:latin typeface="Calibri" pitchFamily="34" charset="0"/>
                <a:ea typeface="Calibri" pitchFamily="34" charset="-122"/>
                <a:cs typeface="Calibri" pitchFamily="34" charset="-120"/>
              </a:rPr>
              <a:t>20–40×</a:t>
            </a:r>
            <a:endParaRPr lang="en-US" sz="5000" dirty="0"/>
          </a:p>
        </p:txBody>
      </p:sp>
      <p:sp>
        <p:nvSpPr>
          <p:cNvPr id="6" name="Text 4"/>
          <p:cNvSpPr txBox="1"/>
          <p:nvPr/>
        </p:nvSpPr>
        <p:spPr>
          <a:xfrm>
            <a:off x="3246120" y="2103120"/>
            <a:ext cx="2423160" cy="1234440"/>
          </a:xfrm>
          <a:prstGeom prst="rect">
            <a:avLst/>
          </a:prstGeom>
          <a:noFill/>
          <a:ln/>
        </p:spPr>
        <p:txBody>
          <a:bodyPr wrap="square" lIns="0" tIns="0" rIns="0" bIns="0" rtlCol="0" anchor="ctr"/>
          <a:lstStyle/>
          <a:p>
            <a:pPr indent="0" marL="0">
              <a:lnSpc>
                <a:spcPct val="125000"/>
              </a:lnSpc>
              <a:buNone/>
            </a:pPr>
            <a:r>
              <a:rPr lang="en-US" sz="1350" dirty="0">
                <a:solidFill>
                  <a:srgbClr val="D6E0EC"/>
                </a:solidFill>
                <a:latin typeface="Calibri" pitchFamily="34" charset="0"/>
                <a:ea typeface="Calibri" pitchFamily="34" charset="-122"/>
                <a:cs typeface="Calibri" pitchFamily="34" charset="-120"/>
              </a:rPr>
              <a:t>cost saved by measuring and cutting a heavy subsystem that lost to a plain baseline.</a:t>
            </a:r>
            <a:endParaRPr lang="en-US" sz="1350" dirty="0"/>
          </a:p>
        </p:txBody>
      </p:sp>
      <p:sp>
        <p:nvSpPr>
          <p:cNvPr id="7" name="Shape 5"/>
          <p:cNvSpPr/>
          <p:nvPr/>
        </p:nvSpPr>
        <p:spPr>
          <a:xfrm>
            <a:off x="6217920" y="1874520"/>
            <a:ext cx="5349240" cy="1691640"/>
          </a:xfrm>
          <a:prstGeom prst="roundRect">
            <a:avLst>
              <a:gd name="adj" fmla="val 5405"/>
            </a:avLst>
          </a:prstGeom>
          <a:solidFill>
            <a:srgbClr val="1C3A5E"/>
          </a:solidFill>
          <a:ln/>
        </p:spPr>
      </p:sp>
      <p:sp>
        <p:nvSpPr>
          <p:cNvPr id="8" name="Text 6"/>
          <p:cNvSpPr txBox="1"/>
          <p:nvPr/>
        </p:nvSpPr>
        <p:spPr>
          <a:xfrm>
            <a:off x="6492240" y="2057400"/>
            <a:ext cx="2377440" cy="1325880"/>
          </a:xfrm>
          <a:prstGeom prst="rect">
            <a:avLst/>
          </a:prstGeom>
          <a:noFill/>
          <a:ln/>
        </p:spPr>
        <p:txBody>
          <a:bodyPr wrap="square" lIns="0" tIns="0" rIns="0" bIns="0" rtlCol="0" anchor="ctr"/>
          <a:lstStyle/>
          <a:p>
            <a:pPr algn="ctr" indent="0" marL="0">
              <a:buNone/>
            </a:pPr>
            <a:r>
              <a:rPr lang="en-US" sz="5000" b="1" dirty="0">
                <a:solidFill>
                  <a:srgbClr val="1FA9A0"/>
                </a:solidFill>
                <a:latin typeface="Calibri" pitchFamily="34" charset="0"/>
                <a:ea typeface="Calibri" pitchFamily="34" charset="-122"/>
                <a:cs typeface="Calibri" pitchFamily="34" charset="-120"/>
              </a:rPr>
              <a:t>0</a:t>
            </a:r>
            <a:endParaRPr lang="en-US" sz="5000" dirty="0"/>
          </a:p>
        </p:txBody>
      </p:sp>
      <p:sp>
        <p:nvSpPr>
          <p:cNvPr id="9" name="Text 7"/>
          <p:cNvSpPr txBox="1"/>
          <p:nvPr/>
        </p:nvSpPr>
        <p:spPr>
          <a:xfrm>
            <a:off x="8915400" y="2103120"/>
            <a:ext cx="2423160" cy="1234440"/>
          </a:xfrm>
          <a:prstGeom prst="rect">
            <a:avLst/>
          </a:prstGeom>
          <a:noFill/>
          <a:ln/>
        </p:spPr>
        <p:txBody>
          <a:bodyPr wrap="square" lIns="0" tIns="0" rIns="0" bIns="0" rtlCol="0" anchor="ctr"/>
          <a:lstStyle/>
          <a:p>
            <a:pPr indent="0" marL="0">
              <a:lnSpc>
                <a:spcPct val="125000"/>
              </a:lnSpc>
              <a:buNone/>
            </a:pPr>
            <a:r>
              <a:rPr lang="en-US" sz="1350" dirty="0">
                <a:solidFill>
                  <a:srgbClr val="D6E0EC"/>
                </a:solidFill>
                <a:latin typeface="Calibri" pitchFamily="34" charset="0"/>
                <a:ea typeface="Calibri" pitchFamily="34" charset="-122"/>
                <a:cs typeface="Calibri" pitchFamily="34" charset="-120"/>
              </a:rPr>
              <a:t>beliefs trusted without stored, testable evidence behind them.</a:t>
            </a:r>
            <a:endParaRPr lang="en-US" sz="1350" dirty="0"/>
          </a:p>
        </p:txBody>
      </p:sp>
      <p:sp>
        <p:nvSpPr>
          <p:cNvPr id="10" name="Shape 8"/>
          <p:cNvSpPr/>
          <p:nvPr/>
        </p:nvSpPr>
        <p:spPr>
          <a:xfrm>
            <a:off x="548640" y="3886200"/>
            <a:ext cx="3429000" cy="1828800"/>
          </a:xfrm>
          <a:prstGeom prst="roundRect">
            <a:avLst>
              <a:gd name="adj" fmla="val 4500"/>
            </a:avLst>
          </a:prstGeom>
          <a:solidFill>
            <a:srgbClr val="1A3253"/>
          </a:solidFill>
          <a:ln w="12700">
            <a:solidFill>
              <a:srgbClr val="2C4A6E"/>
            </a:solidFill>
            <a:prstDash val="solid"/>
          </a:ln>
        </p:spPr>
      </p:sp>
      <p:sp>
        <p:nvSpPr>
          <p:cNvPr id="11" name="Shape 9"/>
          <p:cNvSpPr/>
          <p:nvPr/>
        </p:nvSpPr>
        <p:spPr>
          <a:xfrm>
            <a:off x="822960" y="4160520"/>
            <a:ext cx="457200" cy="457200"/>
          </a:xfrm>
          <a:prstGeom prst="ellipse">
            <a:avLst/>
          </a:prstGeom>
          <a:solidFill>
            <a:srgbClr val="1FA9A0"/>
          </a:solidFill>
          <a:ln/>
        </p:spPr>
      </p:sp>
      <p:sp>
        <p:nvSpPr>
          <p:cNvPr id="12" name="Text 10"/>
          <p:cNvSpPr txBox="1"/>
          <p:nvPr/>
        </p:nvSpPr>
        <p:spPr>
          <a:xfrm>
            <a:off x="822960" y="41605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3" name="Text 11"/>
          <p:cNvSpPr txBox="1"/>
          <p:nvPr/>
        </p:nvSpPr>
        <p:spPr>
          <a:xfrm>
            <a:off x="822960" y="4754880"/>
            <a:ext cx="2880360" cy="411480"/>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Less wasted time</a:t>
            </a:r>
            <a:endParaRPr lang="en-US" sz="1550" dirty="0"/>
          </a:p>
        </p:txBody>
      </p:sp>
      <p:sp>
        <p:nvSpPr>
          <p:cNvPr id="14" name="Text 12"/>
          <p:cNvSpPr txBox="1"/>
          <p:nvPr/>
        </p:nvSpPr>
        <p:spPr>
          <a:xfrm>
            <a:off x="822960" y="5166360"/>
            <a:ext cx="2880360" cy="457200"/>
          </a:xfrm>
          <a:prstGeom prst="rect">
            <a:avLst/>
          </a:prstGeom>
          <a:noFill/>
          <a:ln/>
        </p:spPr>
        <p:txBody>
          <a:bodyPr wrap="square" lIns="0" tIns="0" rIns="0" bIns="0" rtlCol="0" anchor="ctr"/>
          <a:lstStyle/>
          <a:p>
            <a:pPr indent="0" marL="0">
              <a:lnSpc>
                <a:spcPct val="120000"/>
              </a:lnSpc>
              <a:buNone/>
            </a:pPr>
            <a:r>
              <a:rPr lang="en-US" sz="1250" dirty="0">
                <a:solidFill>
                  <a:srgbClr val="AFC0D4"/>
                </a:solidFill>
                <a:latin typeface="Calibri" pitchFamily="34" charset="0"/>
                <a:ea typeface="Calibri" pitchFamily="34" charset="-122"/>
                <a:cs typeface="Calibri" pitchFamily="34" charset="-120"/>
              </a:rPr>
              <a:t>Answers fit the question actually asked.</a:t>
            </a:r>
            <a:endParaRPr lang="en-US" sz="1250" dirty="0"/>
          </a:p>
        </p:txBody>
      </p:sp>
      <p:sp>
        <p:nvSpPr>
          <p:cNvPr id="15" name="Shape 13"/>
          <p:cNvSpPr/>
          <p:nvPr/>
        </p:nvSpPr>
        <p:spPr>
          <a:xfrm>
            <a:off x="4288536" y="3886200"/>
            <a:ext cx="3429000" cy="1828800"/>
          </a:xfrm>
          <a:prstGeom prst="roundRect">
            <a:avLst>
              <a:gd name="adj" fmla="val 4500"/>
            </a:avLst>
          </a:prstGeom>
          <a:solidFill>
            <a:srgbClr val="1A3253"/>
          </a:solidFill>
          <a:ln w="12700">
            <a:solidFill>
              <a:srgbClr val="2C4A6E"/>
            </a:solidFill>
            <a:prstDash val="solid"/>
          </a:ln>
        </p:spPr>
      </p:sp>
      <p:sp>
        <p:nvSpPr>
          <p:cNvPr id="16" name="Shape 14"/>
          <p:cNvSpPr/>
          <p:nvPr/>
        </p:nvSpPr>
        <p:spPr>
          <a:xfrm>
            <a:off x="4562856" y="4160520"/>
            <a:ext cx="457200" cy="457200"/>
          </a:xfrm>
          <a:prstGeom prst="ellipse">
            <a:avLst/>
          </a:prstGeom>
          <a:solidFill>
            <a:srgbClr val="1FA9A0"/>
          </a:solidFill>
          <a:ln/>
        </p:spPr>
      </p:sp>
      <p:sp>
        <p:nvSpPr>
          <p:cNvPr id="17" name="Text 15"/>
          <p:cNvSpPr txBox="1"/>
          <p:nvPr/>
        </p:nvSpPr>
        <p:spPr>
          <a:xfrm>
            <a:off x="4562856" y="41605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8" name="Text 16"/>
          <p:cNvSpPr txBox="1"/>
          <p:nvPr/>
        </p:nvSpPr>
        <p:spPr>
          <a:xfrm>
            <a:off x="4562856" y="4754880"/>
            <a:ext cx="2880360" cy="411480"/>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True personalization</a:t>
            </a:r>
            <a:endParaRPr lang="en-US" sz="1550" dirty="0"/>
          </a:p>
        </p:txBody>
      </p:sp>
      <p:sp>
        <p:nvSpPr>
          <p:cNvPr id="19" name="Text 17"/>
          <p:cNvSpPr txBox="1"/>
          <p:nvPr/>
        </p:nvSpPr>
        <p:spPr>
          <a:xfrm>
            <a:off x="4562856" y="5166360"/>
            <a:ext cx="2880360" cy="457200"/>
          </a:xfrm>
          <a:prstGeom prst="rect">
            <a:avLst/>
          </a:prstGeom>
          <a:noFill/>
          <a:ln/>
        </p:spPr>
        <p:txBody>
          <a:bodyPr wrap="square" lIns="0" tIns="0" rIns="0" bIns="0" rtlCol="0" anchor="ctr"/>
          <a:lstStyle/>
          <a:p>
            <a:pPr indent="0" marL="0">
              <a:lnSpc>
                <a:spcPct val="120000"/>
              </a:lnSpc>
              <a:buNone/>
            </a:pPr>
            <a:r>
              <a:rPr lang="en-US" sz="1250" dirty="0">
                <a:solidFill>
                  <a:srgbClr val="AFC0D4"/>
                </a:solidFill>
                <a:latin typeface="Calibri" pitchFamily="34" charset="0"/>
                <a:ea typeface="Calibri" pitchFamily="34" charset="-122"/>
                <a:cs typeface="Calibri" pitchFamily="34" charset="-120"/>
              </a:rPr>
              <a:t>Adapts from evidence, not an onboarding survey.</a:t>
            </a:r>
            <a:endParaRPr lang="en-US" sz="1250" dirty="0"/>
          </a:p>
        </p:txBody>
      </p:sp>
      <p:sp>
        <p:nvSpPr>
          <p:cNvPr id="20" name="Shape 18"/>
          <p:cNvSpPr/>
          <p:nvPr/>
        </p:nvSpPr>
        <p:spPr>
          <a:xfrm>
            <a:off x="8028432" y="3886200"/>
            <a:ext cx="3429000" cy="1828800"/>
          </a:xfrm>
          <a:prstGeom prst="roundRect">
            <a:avLst>
              <a:gd name="adj" fmla="val 4500"/>
            </a:avLst>
          </a:prstGeom>
          <a:solidFill>
            <a:srgbClr val="1A3253"/>
          </a:solidFill>
          <a:ln w="12700">
            <a:solidFill>
              <a:srgbClr val="2C4A6E"/>
            </a:solidFill>
            <a:prstDash val="solid"/>
          </a:ln>
        </p:spPr>
      </p:sp>
      <p:sp>
        <p:nvSpPr>
          <p:cNvPr id="21" name="Shape 19"/>
          <p:cNvSpPr/>
          <p:nvPr/>
        </p:nvSpPr>
        <p:spPr>
          <a:xfrm>
            <a:off x="8302752" y="4160520"/>
            <a:ext cx="457200" cy="457200"/>
          </a:xfrm>
          <a:prstGeom prst="ellipse">
            <a:avLst/>
          </a:prstGeom>
          <a:solidFill>
            <a:srgbClr val="1FA9A0"/>
          </a:solidFill>
          <a:ln/>
        </p:spPr>
      </p:sp>
      <p:sp>
        <p:nvSpPr>
          <p:cNvPr id="22" name="Text 20"/>
          <p:cNvSpPr txBox="1"/>
          <p:nvPr/>
        </p:nvSpPr>
        <p:spPr>
          <a:xfrm>
            <a:off x="8302752" y="41605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23" name="Text 21"/>
          <p:cNvSpPr txBox="1"/>
          <p:nvPr/>
        </p:nvSpPr>
        <p:spPr>
          <a:xfrm>
            <a:off x="8302752" y="4754880"/>
            <a:ext cx="2880360" cy="411480"/>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Auditable &amp; trustworthy</a:t>
            </a:r>
            <a:endParaRPr lang="en-US" sz="1550" dirty="0"/>
          </a:p>
        </p:txBody>
      </p:sp>
      <p:sp>
        <p:nvSpPr>
          <p:cNvPr id="24" name="Text 22"/>
          <p:cNvSpPr txBox="1"/>
          <p:nvPr/>
        </p:nvSpPr>
        <p:spPr>
          <a:xfrm>
            <a:off x="8302752" y="5166360"/>
            <a:ext cx="2880360" cy="457200"/>
          </a:xfrm>
          <a:prstGeom prst="rect">
            <a:avLst/>
          </a:prstGeom>
          <a:noFill/>
          <a:ln/>
        </p:spPr>
        <p:txBody>
          <a:bodyPr wrap="square" lIns="0" tIns="0" rIns="0" bIns="0" rtlCol="0" anchor="ctr"/>
          <a:lstStyle/>
          <a:p>
            <a:pPr indent="0" marL="0">
              <a:lnSpc>
                <a:spcPct val="120000"/>
              </a:lnSpc>
              <a:buNone/>
            </a:pPr>
            <a:r>
              <a:rPr lang="en-US" sz="1250" dirty="0">
                <a:solidFill>
                  <a:srgbClr val="AFC0D4"/>
                </a:solidFill>
                <a:latin typeface="Calibri" pitchFamily="34" charset="0"/>
                <a:ea typeface="Calibri" pitchFamily="34" charset="-122"/>
                <a:cs typeface="Calibri" pitchFamily="34" charset="-120"/>
              </a:rPr>
              <a:t>Every claim is traceable and append-only.</a:t>
            </a:r>
            <a:endParaRPr lang="en-US" sz="1250" dirty="0"/>
          </a:p>
        </p:txBody>
      </p:sp>
      <p:sp>
        <p:nvSpPr>
          <p:cNvPr id="25" name="Text 23"/>
          <p:cNvSpPr txBox="1"/>
          <p:nvPr/>
        </p:nvSpPr>
        <p:spPr>
          <a:xfrm>
            <a:off x="10634472" y="6400800"/>
            <a:ext cx="1097280" cy="274320"/>
          </a:xfrm>
          <a:prstGeom prst="rect">
            <a:avLst/>
          </a:prstGeom>
          <a:noFill/>
          <a:ln/>
        </p:spPr>
        <p:txBody>
          <a:bodyPr wrap="square" lIns="0" tIns="0" rIns="0" bIns="0" rtlCol="0" anchor="ctr"/>
          <a:lstStyle/>
          <a:p>
            <a:pPr algn="r" indent="0" marL="0">
              <a:buNone/>
            </a:pPr>
            <a:r>
              <a:rPr lang="en-US" sz="900" dirty="0">
                <a:solidFill>
                  <a:srgbClr val="6B7A8D"/>
                </a:solidFill>
                <a:latin typeface="Calibri" pitchFamily="34" charset="0"/>
                <a:ea typeface="Calibri" pitchFamily="34" charset="-122"/>
                <a:cs typeface="Calibri" pitchFamily="34" charset="-120"/>
              </a:rPr>
              <a:t>08  /  10</a:t>
            </a:r>
            <a:endParaRPr lang="en-US" sz="900" dirty="0"/>
          </a:p>
        </p:txBody>
      </p:sp>
      <p:sp>
        <p:nvSpPr>
          <p:cNvPr id="26" name="Text 24"/>
          <p:cNvSpPr txBox="1"/>
          <p:nvPr/>
        </p:nvSpPr>
        <p:spPr>
          <a:xfrm>
            <a:off x="548640" y="6400800"/>
            <a:ext cx="1828800" cy="274320"/>
          </a:xfrm>
          <a:prstGeom prst="rect">
            <a:avLst/>
          </a:prstGeom>
          <a:noFill/>
          <a:ln/>
        </p:spPr>
        <p:txBody>
          <a:bodyPr wrap="square" lIns="0" tIns="0" rIns="0" bIns="0" rtlCol="0" anchor="ctr"/>
          <a:lstStyle/>
          <a:p>
            <a:pPr algn="l" indent="0" marL="0">
              <a:buNone/>
            </a:pPr>
            <a:r>
              <a:rPr lang="en-US" sz="900" b="1" spc="300" kern="0" dirty="0">
                <a:solidFill>
                  <a:srgbClr val="6B7A8D"/>
                </a:solidFill>
                <a:latin typeface="Calibri" pitchFamily="34" charset="0"/>
                <a:ea typeface="Calibri" pitchFamily="34" charset="-122"/>
                <a:cs typeface="Calibri" pitchFamily="34" charset="-120"/>
              </a:rPr>
              <a:t>VERSA</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502920"/>
            <a:ext cx="7315200" cy="320040"/>
          </a:xfrm>
          <a:prstGeom prst="rect">
            <a:avLst/>
          </a:prstGeom>
          <a:noFill/>
          <a:ln/>
        </p:spPr>
        <p:txBody>
          <a:bodyPr wrap="square" lIns="0" tIns="0" rIns="0" bIns="0" rtlCol="0" anchor="ctr"/>
          <a:lstStyle/>
          <a:p>
            <a:pPr algn="l" indent="0" marL="0">
              <a:buNone/>
            </a:pPr>
            <a:r>
              <a:rPr lang="en-US" sz="1200" b="1" spc="300" kern="0" dirty="0">
                <a:solidFill>
                  <a:srgbClr val="1FA9A0"/>
                </a:solidFill>
                <a:latin typeface="Calibri" pitchFamily="34" charset="0"/>
                <a:ea typeface="Calibri" pitchFamily="34" charset="-122"/>
                <a:cs typeface="Calibri" pitchFamily="34" charset="-120"/>
              </a:rPr>
              <a:t>FUTURE ROADMAP</a:t>
            </a:r>
            <a:endParaRPr lang="en-US" sz="1200" dirty="0"/>
          </a:p>
        </p:txBody>
      </p:sp>
      <p:sp>
        <p:nvSpPr>
          <p:cNvPr id="3" name="Text 1"/>
          <p:cNvSpPr txBox="1"/>
          <p:nvPr/>
        </p:nvSpPr>
        <p:spPr>
          <a:xfrm>
            <a:off x="548640" y="822960"/>
            <a:ext cx="11091672" cy="822960"/>
          </a:xfrm>
          <a:prstGeom prst="rect">
            <a:avLst/>
          </a:prstGeom>
          <a:noFill/>
          <a:ln/>
        </p:spPr>
        <p:txBody>
          <a:bodyPr wrap="square" lIns="0" tIns="0" rIns="0" bIns="0" rtlCol="0" anchor="ctr"/>
          <a:lstStyle/>
          <a:p>
            <a:pPr algn="l" indent="0" marL="0">
              <a:buNone/>
            </a:pPr>
            <a:r>
              <a:rPr lang="en-US" sz="3400" b="1" dirty="0">
                <a:solidFill>
                  <a:srgbClr val="12233F"/>
                </a:solidFill>
                <a:latin typeface="Calibri" pitchFamily="34" charset="0"/>
                <a:ea typeface="Calibri" pitchFamily="34" charset="-122"/>
                <a:cs typeface="Calibri" pitchFamily="34" charset="-120"/>
              </a:rPr>
              <a:t>Where Versa goes next</a:t>
            </a:r>
            <a:endParaRPr lang="en-US" sz="3400" dirty="0"/>
          </a:p>
        </p:txBody>
      </p:sp>
      <p:sp>
        <p:nvSpPr>
          <p:cNvPr id="4" name="Shape 2"/>
          <p:cNvSpPr/>
          <p:nvPr/>
        </p:nvSpPr>
        <p:spPr>
          <a:xfrm>
            <a:off x="548640" y="1874520"/>
            <a:ext cx="3429000" cy="3977640"/>
          </a:xfrm>
          <a:prstGeom prst="roundRect">
            <a:avLst>
              <a:gd name="adj" fmla="val 2667"/>
            </a:avLst>
          </a:prstGeom>
          <a:solidFill>
            <a:srgbClr val="F2F5F9"/>
          </a:solidFill>
          <a:ln w="12700">
            <a:solidFill>
              <a:srgbClr val="DFE6EE"/>
            </a:solidFill>
            <a:prstDash val="solid"/>
          </a:ln>
        </p:spPr>
      </p:sp>
      <p:sp>
        <p:nvSpPr>
          <p:cNvPr id="5" name="Shape 3"/>
          <p:cNvSpPr/>
          <p:nvPr/>
        </p:nvSpPr>
        <p:spPr>
          <a:xfrm>
            <a:off x="822960" y="2167128"/>
            <a:ext cx="914400" cy="914400"/>
          </a:xfrm>
          <a:prstGeom prst="ellipse">
            <a:avLst/>
          </a:prstGeom>
          <a:solidFill>
            <a:srgbClr val="1FA9A0"/>
          </a:solidFill>
          <a:ln/>
        </p:spPr>
      </p:sp>
      <p:sp>
        <p:nvSpPr>
          <p:cNvPr id="6" name="Text 4"/>
          <p:cNvSpPr txBox="1"/>
          <p:nvPr/>
        </p:nvSpPr>
        <p:spPr>
          <a:xfrm>
            <a:off x="822960" y="2167128"/>
            <a:ext cx="914400" cy="9144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NOW</a:t>
            </a:r>
            <a:endParaRPr lang="en-US" sz="1400" dirty="0"/>
          </a:p>
        </p:txBody>
      </p:sp>
      <p:sp>
        <p:nvSpPr>
          <p:cNvPr id="7" name="Text 5"/>
          <p:cNvSpPr txBox="1"/>
          <p:nvPr/>
        </p:nvSpPr>
        <p:spPr>
          <a:xfrm>
            <a:off x="1920240" y="2286000"/>
            <a:ext cx="1874520" cy="685800"/>
          </a:xfrm>
          <a:prstGeom prst="rect">
            <a:avLst/>
          </a:prstGeom>
          <a:noFill/>
          <a:ln/>
        </p:spPr>
        <p:txBody>
          <a:bodyPr wrap="square" lIns="0" tIns="0" rIns="0" bIns="0" rtlCol="0" anchor="ctr"/>
          <a:lstStyle/>
          <a:p>
            <a:pPr indent="0" marL="0">
              <a:buNone/>
            </a:pPr>
            <a:r>
              <a:rPr lang="en-US" sz="1800" b="1" dirty="0">
                <a:solidFill>
                  <a:srgbClr val="12233F"/>
                </a:solidFill>
                <a:latin typeface="Calibri" pitchFamily="34" charset="0"/>
                <a:ea typeface="Calibri" pitchFamily="34" charset="-122"/>
                <a:cs typeface="Calibri" pitchFamily="34" charset="-120"/>
              </a:rPr>
              <a:t>Live today</a:t>
            </a:r>
            <a:endParaRPr lang="en-US" sz="1800" dirty="0"/>
          </a:p>
        </p:txBody>
      </p:sp>
      <p:sp>
        <p:nvSpPr>
          <p:cNvPr id="8" name="Text 6"/>
          <p:cNvSpPr txBox="1"/>
          <p:nvPr/>
        </p:nvSpPr>
        <p:spPr>
          <a:xfrm>
            <a:off x="859536" y="3337560"/>
            <a:ext cx="2834640" cy="2286000"/>
          </a:xfrm>
          <a:prstGeom prst="rect">
            <a:avLst/>
          </a:prstGeom>
          <a:noFill/>
          <a:ln/>
        </p:spPr>
        <p:txBody>
          <a:bodyPr wrap="square" lIns="0" tIns="0" rIns="0" bIns="0" rtlCol="0" anchor="t"/>
          <a:lstStyle/>
          <a:p>
            <a:pPr marL="190500" indent="-190500">
              <a:lnSpc>
                <a:spcPct val="115000"/>
              </a:lnSpc>
              <a:spcAft>
                <a:spcPts val="1000"/>
              </a:spcAft>
              <a:buSzPct val="100000"/>
              <a:buChar char="•"/>
            </a:pPr>
            <a:r>
              <a:rPr lang="en-US" sz="1300" dirty="0">
                <a:solidFill>
                  <a:srgbClr val="1E2A3A"/>
                </a:solidFill>
                <a:latin typeface="Calibri" pitchFamily="34" charset="0"/>
                <a:ea typeface="Calibri" pitchFamily="34" charset="-122"/>
                <a:cs typeface="Calibri" pitchFamily="34" charset="-120"/>
              </a:rPr>
              <a:t>Three-call disambiguation flow</a:t>
            </a:r>
            <a:endParaRPr lang="en-US" sz="1300" dirty="0"/>
          </a:p>
          <a:p>
            <a:pPr marL="190500" indent="-190500">
              <a:lnSpc>
                <a:spcPct val="115000"/>
              </a:lnSpc>
              <a:spcAft>
                <a:spcPts val="1000"/>
              </a:spcAft>
              <a:buSzPct val="100000"/>
              <a:buChar char="•"/>
            </a:pPr>
            <a:r>
              <a:rPr lang="en-US" sz="1300" dirty="0">
                <a:solidFill>
                  <a:srgbClr val="1E2A3A"/>
                </a:solidFill>
                <a:latin typeface="Calibri" pitchFamily="34" charset="0"/>
                <a:ea typeface="Calibri" pitchFamily="34" charset="-122"/>
                <a:cs typeface="Calibri" pitchFamily="34" charset="-120"/>
              </a:rPr>
              <a:t>Semantic memory that skips repeat questions</a:t>
            </a:r>
            <a:endParaRPr lang="en-US" sz="1300" dirty="0"/>
          </a:p>
          <a:p>
            <a:pPr marL="190500" indent="-190500">
              <a:lnSpc>
                <a:spcPct val="115000"/>
              </a:lnSpc>
              <a:spcAft>
                <a:spcPts val="1000"/>
              </a:spcAft>
              <a:buSzPct val="100000"/>
              <a:buChar char="•"/>
            </a:pPr>
            <a:r>
              <a:rPr lang="en-US" sz="1300" dirty="0">
                <a:solidFill>
                  <a:srgbClr val="1E2A3A"/>
                </a:solidFill>
                <a:latin typeface="Calibri" pitchFamily="34" charset="0"/>
                <a:ea typeface="Calibri" pitchFamily="34" charset="-122"/>
                <a:cs typeface="Calibri" pitchFamily="34" charset="-120"/>
              </a:rPr>
              <a:t>Evidence-gated thinking-style detection</a:t>
            </a:r>
            <a:endParaRPr lang="en-US" sz="1300" dirty="0"/>
          </a:p>
        </p:txBody>
      </p:sp>
      <p:sp>
        <p:nvSpPr>
          <p:cNvPr id="9" name="Shape 7"/>
          <p:cNvSpPr/>
          <p:nvPr/>
        </p:nvSpPr>
        <p:spPr>
          <a:xfrm>
            <a:off x="4288536" y="1874520"/>
            <a:ext cx="3429000" cy="3977640"/>
          </a:xfrm>
          <a:prstGeom prst="roundRect">
            <a:avLst>
              <a:gd name="adj" fmla="val 2667"/>
            </a:avLst>
          </a:prstGeom>
          <a:solidFill>
            <a:srgbClr val="F2F5F9"/>
          </a:solidFill>
          <a:ln w="12700">
            <a:solidFill>
              <a:srgbClr val="DFE6EE"/>
            </a:solidFill>
            <a:prstDash val="solid"/>
          </a:ln>
        </p:spPr>
      </p:sp>
      <p:sp>
        <p:nvSpPr>
          <p:cNvPr id="10" name="Shape 8"/>
          <p:cNvSpPr/>
          <p:nvPr/>
        </p:nvSpPr>
        <p:spPr>
          <a:xfrm>
            <a:off x="4562856" y="2167128"/>
            <a:ext cx="914400" cy="914400"/>
          </a:xfrm>
          <a:prstGeom prst="ellipse">
            <a:avLst/>
          </a:prstGeom>
          <a:solidFill>
            <a:srgbClr val="1C3A5E"/>
          </a:solidFill>
          <a:ln/>
        </p:spPr>
      </p:sp>
      <p:sp>
        <p:nvSpPr>
          <p:cNvPr id="11" name="Text 9"/>
          <p:cNvSpPr txBox="1"/>
          <p:nvPr/>
        </p:nvSpPr>
        <p:spPr>
          <a:xfrm>
            <a:off x="4562856" y="2167128"/>
            <a:ext cx="914400" cy="9144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NEXT</a:t>
            </a:r>
            <a:endParaRPr lang="en-US" sz="1400" dirty="0"/>
          </a:p>
        </p:txBody>
      </p:sp>
      <p:sp>
        <p:nvSpPr>
          <p:cNvPr id="12" name="Text 10"/>
          <p:cNvSpPr txBox="1"/>
          <p:nvPr/>
        </p:nvSpPr>
        <p:spPr>
          <a:xfrm>
            <a:off x="5660136" y="2286000"/>
            <a:ext cx="1874520" cy="685800"/>
          </a:xfrm>
          <a:prstGeom prst="rect">
            <a:avLst/>
          </a:prstGeom>
          <a:noFill/>
          <a:ln/>
        </p:spPr>
        <p:txBody>
          <a:bodyPr wrap="square" lIns="0" tIns="0" rIns="0" bIns="0" rtlCol="0" anchor="ctr"/>
          <a:lstStyle/>
          <a:p>
            <a:pPr indent="0" marL="0">
              <a:buNone/>
            </a:pPr>
            <a:r>
              <a:rPr lang="en-US" sz="1800" b="1" dirty="0">
                <a:solidFill>
                  <a:srgbClr val="12233F"/>
                </a:solidFill>
                <a:latin typeface="Calibri" pitchFamily="34" charset="0"/>
                <a:ea typeface="Calibri" pitchFamily="34" charset="-122"/>
                <a:cs typeface="Calibri" pitchFamily="34" charset="-120"/>
              </a:rPr>
              <a:t>In progress</a:t>
            </a:r>
            <a:endParaRPr lang="en-US" sz="1800" dirty="0"/>
          </a:p>
        </p:txBody>
      </p:sp>
      <p:sp>
        <p:nvSpPr>
          <p:cNvPr id="13" name="Text 11"/>
          <p:cNvSpPr txBox="1"/>
          <p:nvPr/>
        </p:nvSpPr>
        <p:spPr>
          <a:xfrm>
            <a:off x="4599432" y="3337560"/>
            <a:ext cx="2834640" cy="2286000"/>
          </a:xfrm>
          <a:prstGeom prst="rect">
            <a:avLst/>
          </a:prstGeom>
          <a:noFill/>
          <a:ln/>
        </p:spPr>
        <p:txBody>
          <a:bodyPr wrap="square" lIns="0" tIns="0" rIns="0" bIns="0" rtlCol="0" anchor="t"/>
          <a:lstStyle/>
          <a:p>
            <a:pPr marL="190500" indent="-190500">
              <a:lnSpc>
                <a:spcPct val="115000"/>
              </a:lnSpc>
              <a:spcAft>
                <a:spcPts val="1000"/>
              </a:spcAft>
              <a:buSzPct val="100000"/>
              <a:buChar char="•"/>
            </a:pPr>
            <a:r>
              <a:rPr lang="en-US" sz="1300" dirty="0">
                <a:solidFill>
                  <a:srgbClr val="1E2A3A"/>
                </a:solidFill>
                <a:latin typeface="Calibri" pitchFamily="34" charset="0"/>
                <a:ea typeface="Calibri" pitchFamily="34" charset="-122"/>
                <a:cs typeface="Calibri" pitchFamily="34" charset="-120"/>
              </a:rPr>
              <a:t>Expand the instrument layer to measure real skill</a:t>
            </a:r>
            <a:endParaRPr lang="en-US" sz="1300" dirty="0"/>
          </a:p>
          <a:p>
            <a:pPr marL="190500" indent="-190500">
              <a:lnSpc>
                <a:spcPct val="115000"/>
              </a:lnSpc>
              <a:spcAft>
                <a:spcPts val="1000"/>
              </a:spcAft>
              <a:buSzPct val="100000"/>
              <a:buChar char="•"/>
            </a:pPr>
            <a:r>
              <a:rPr lang="en-US" sz="1300" dirty="0">
                <a:solidFill>
                  <a:srgbClr val="1E2A3A"/>
                </a:solidFill>
                <a:latin typeface="Calibri" pitchFamily="34" charset="0"/>
                <a:ea typeface="Calibri" pitchFamily="34" charset="-122"/>
                <a:cs typeface="Calibri" pitchFamily="34" charset="-120"/>
              </a:rPr>
              <a:t>Feed learner predictions into live responses</a:t>
            </a:r>
            <a:endParaRPr lang="en-US" sz="1300" dirty="0"/>
          </a:p>
          <a:p>
            <a:pPr marL="190500" indent="-190500">
              <a:lnSpc>
                <a:spcPct val="115000"/>
              </a:lnSpc>
              <a:spcAft>
                <a:spcPts val="1000"/>
              </a:spcAft>
              <a:buSzPct val="100000"/>
              <a:buChar char="•"/>
            </a:pPr>
            <a:r>
              <a:rPr lang="en-US" sz="1300" dirty="0">
                <a:solidFill>
                  <a:srgbClr val="1E2A3A"/>
                </a:solidFill>
                <a:latin typeface="Calibri" pitchFamily="34" charset="0"/>
                <a:ea typeface="Calibri" pitchFamily="34" charset="-122"/>
                <a:cs typeface="Calibri" pitchFamily="34" charset="-120"/>
              </a:rPr>
              <a:t>Richer capability tracking</a:t>
            </a:r>
            <a:endParaRPr lang="en-US" sz="1300" dirty="0"/>
          </a:p>
        </p:txBody>
      </p:sp>
      <p:sp>
        <p:nvSpPr>
          <p:cNvPr id="14" name="Shape 12"/>
          <p:cNvSpPr/>
          <p:nvPr/>
        </p:nvSpPr>
        <p:spPr>
          <a:xfrm>
            <a:off x="8028432" y="1874520"/>
            <a:ext cx="3429000" cy="3977640"/>
          </a:xfrm>
          <a:prstGeom prst="roundRect">
            <a:avLst>
              <a:gd name="adj" fmla="val 2667"/>
            </a:avLst>
          </a:prstGeom>
          <a:solidFill>
            <a:srgbClr val="F2F5F9"/>
          </a:solidFill>
          <a:ln w="12700">
            <a:solidFill>
              <a:srgbClr val="DFE6EE"/>
            </a:solidFill>
            <a:prstDash val="solid"/>
          </a:ln>
        </p:spPr>
      </p:sp>
      <p:sp>
        <p:nvSpPr>
          <p:cNvPr id="15" name="Shape 13"/>
          <p:cNvSpPr/>
          <p:nvPr/>
        </p:nvSpPr>
        <p:spPr>
          <a:xfrm>
            <a:off x="8302752" y="2167128"/>
            <a:ext cx="914400" cy="914400"/>
          </a:xfrm>
          <a:prstGeom prst="ellipse">
            <a:avLst/>
          </a:prstGeom>
          <a:solidFill>
            <a:srgbClr val="4A80C7"/>
          </a:solidFill>
          <a:ln/>
        </p:spPr>
      </p:sp>
      <p:sp>
        <p:nvSpPr>
          <p:cNvPr id="16" name="Text 14"/>
          <p:cNvSpPr txBox="1"/>
          <p:nvPr/>
        </p:nvSpPr>
        <p:spPr>
          <a:xfrm>
            <a:off x="8302752" y="2167128"/>
            <a:ext cx="914400" cy="9144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LATER</a:t>
            </a:r>
            <a:endParaRPr lang="en-US" sz="1400" dirty="0"/>
          </a:p>
        </p:txBody>
      </p:sp>
      <p:sp>
        <p:nvSpPr>
          <p:cNvPr id="17" name="Text 15"/>
          <p:cNvSpPr txBox="1"/>
          <p:nvPr/>
        </p:nvSpPr>
        <p:spPr>
          <a:xfrm>
            <a:off x="9400032" y="2286000"/>
            <a:ext cx="1874520" cy="685800"/>
          </a:xfrm>
          <a:prstGeom prst="rect">
            <a:avLst/>
          </a:prstGeom>
          <a:noFill/>
          <a:ln/>
        </p:spPr>
        <p:txBody>
          <a:bodyPr wrap="square" lIns="0" tIns="0" rIns="0" bIns="0" rtlCol="0" anchor="ctr"/>
          <a:lstStyle/>
          <a:p>
            <a:pPr indent="0" marL="0">
              <a:buNone/>
            </a:pPr>
            <a:r>
              <a:rPr lang="en-US" sz="1800" b="1" dirty="0">
                <a:solidFill>
                  <a:srgbClr val="12233F"/>
                </a:solidFill>
                <a:latin typeface="Calibri" pitchFamily="34" charset="0"/>
                <a:ea typeface="Calibri" pitchFamily="34" charset="-122"/>
                <a:cs typeface="Calibri" pitchFamily="34" charset="-120"/>
              </a:rPr>
              <a:t>Exploring</a:t>
            </a:r>
            <a:endParaRPr lang="en-US" sz="1800" dirty="0"/>
          </a:p>
        </p:txBody>
      </p:sp>
      <p:sp>
        <p:nvSpPr>
          <p:cNvPr id="18" name="Text 16"/>
          <p:cNvSpPr txBox="1"/>
          <p:nvPr/>
        </p:nvSpPr>
        <p:spPr>
          <a:xfrm>
            <a:off x="8339328" y="3337560"/>
            <a:ext cx="2834640" cy="2286000"/>
          </a:xfrm>
          <a:prstGeom prst="rect">
            <a:avLst/>
          </a:prstGeom>
          <a:noFill/>
          <a:ln/>
        </p:spPr>
        <p:txBody>
          <a:bodyPr wrap="square" lIns="0" tIns="0" rIns="0" bIns="0" rtlCol="0" anchor="t"/>
          <a:lstStyle/>
          <a:p>
            <a:pPr marL="190500" indent="-190500">
              <a:lnSpc>
                <a:spcPct val="115000"/>
              </a:lnSpc>
              <a:spcAft>
                <a:spcPts val="1000"/>
              </a:spcAft>
              <a:buSzPct val="100000"/>
              <a:buChar char="•"/>
            </a:pPr>
            <a:r>
              <a:rPr lang="en-US" sz="1300" dirty="0">
                <a:solidFill>
                  <a:srgbClr val="1E2A3A"/>
                </a:solidFill>
                <a:latin typeface="Calibri" pitchFamily="34" charset="0"/>
                <a:ea typeface="Calibri" pitchFamily="34" charset="-122"/>
                <a:cs typeface="Calibri" pitchFamily="34" charset="-120"/>
              </a:rPr>
              <a:t>Take Versa beyond tutoring via the domain switch</a:t>
            </a:r>
            <a:endParaRPr lang="en-US" sz="1300" dirty="0"/>
          </a:p>
          <a:p>
            <a:pPr marL="190500" indent="-190500">
              <a:lnSpc>
                <a:spcPct val="115000"/>
              </a:lnSpc>
              <a:spcAft>
                <a:spcPts val="1000"/>
              </a:spcAft>
              <a:buSzPct val="100000"/>
              <a:buChar char="•"/>
            </a:pPr>
            <a:r>
              <a:rPr lang="en-US" sz="1300" dirty="0">
                <a:solidFill>
                  <a:srgbClr val="1E2A3A"/>
                </a:solidFill>
                <a:latin typeface="Calibri" pitchFamily="34" charset="0"/>
                <a:ea typeface="Calibri" pitchFamily="34" charset="-122"/>
                <a:cs typeface="Calibri" pitchFamily="34" charset="-120"/>
              </a:rPr>
              <a:t>Calibrated confidence and reliability checks</a:t>
            </a:r>
            <a:endParaRPr lang="en-US" sz="1300" dirty="0"/>
          </a:p>
          <a:p>
            <a:pPr marL="190500" indent="-190500">
              <a:lnSpc>
                <a:spcPct val="115000"/>
              </a:lnSpc>
              <a:spcAft>
                <a:spcPts val="1000"/>
              </a:spcAft>
              <a:buSzPct val="100000"/>
              <a:buChar char="•"/>
            </a:pPr>
            <a:r>
              <a:rPr lang="en-US" sz="1300" dirty="0">
                <a:solidFill>
                  <a:srgbClr val="1E2A3A"/>
                </a:solidFill>
                <a:latin typeface="Calibri" pitchFamily="34" charset="0"/>
                <a:ea typeface="Calibri" pitchFamily="34" charset="-122"/>
                <a:cs typeface="Calibri" pitchFamily="34" charset="-120"/>
              </a:rPr>
              <a:t>Embeddable learner model for platforms</a:t>
            </a:r>
            <a:endParaRPr lang="en-US" sz="1300" dirty="0"/>
          </a:p>
        </p:txBody>
      </p:sp>
      <p:sp>
        <p:nvSpPr>
          <p:cNvPr id="19" name="Text 17"/>
          <p:cNvSpPr txBox="1"/>
          <p:nvPr/>
        </p:nvSpPr>
        <p:spPr>
          <a:xfrm>
            <a:off x="10634472" y="6400800"/>
            <a:ext cx="1097280" cy="274320"/>
          </a:xfrm>
          <a:prstGeom prst="rect">
            <a:avLst/>
          </a:prstGeom>
          <a:noFill/>
          <a:ln/>
        </p:spPr>
        <p:txBody>
          <a:bodyPr wrap="square" lIns="0" tIns="0" rIns="0" bIns="0" rtlCol="0" anchor="ctr"/>
          <a:lstStyle/>
          <a:p>
            <a:pPr algn="r" indent="0" marL="0">
              <a:buNone/>
            </a:pPr>
            <a:r>
              <a:rPr lang="en-US" sz="900" dirty="0">
                <a:solidFill>
                  <a:srgbClr val="6B7A8D"/>
                </a:solidFill>
                <a:latin typeface="Calibri" pitchFamily="34" charset="0"/>
                <a:ea typeface="Calibri" pitchFamily="34" charset="-122"/>
                <a:cs typeface="Calibri" pitchFamily="34" charset="-120"/>
              </a:rPr>
              <a:t>09  /  10</a:t>
            </a:r>
            <a:endParaRPr lang="en-US" sz="900" dirty="0"/>
          </a:p>
        </p:txBody>
      </p:sp>
      <p:sp>
        <p:nvSpPr>
          <p:cNvPr id="20" name="Text 18"/>
          <p:cNvSpPr txBox="1"/>
          <p:nvPr/>
        </p:nvSpPr>
        <p:spPr>
          <a:xfrm>
            <a:off x="548640" y="6400800"/>
            <a:ext cx="1828800" cy="274320"/>
          </a:xfrm>
          <a:prstGeom prst="rect">
            <a:avLst/>
          </a:prstGeom>
          <a:noFill/>
          <a:ln/>
        </p:spPr>
        <p:txBody>
          <a:bodyPr wrap="square" lIns="0" tIns="0" rIns="0" bIns="0" rtlCol="0" anchor="ctr"/>
          <a:lstStyle/>
          <a:p>
            <a:pPr algn="l" indent="0" marL="0">
              <a:buNone/>
            </a:pPr>
            <a:r>
              <a:rPr lang="en-US" sz="900" b="1" spc="300" kern="0" dirty="0">
                <a:solidFill>
                  <a:srgbClr val="6B7A8D"/>
                </a:solidFill>
                <a:latin typeface="Calibri" pitchFamily="34" charset="0"/>
                <a:ea typeface="Calibri" pitchFamily="34" charset="-122"/>
                <a:cs typeface="Calibri" pitchFamily="34" charset="-120"/>
              </a:rPr>
              <a:t>VERSA</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2233F"/>
        </a:solidFill>
      </p:bgPr>
    </p:bg>
    <p:spTree>
      <p:nvGrpSpPr>
        <p:cNvPr id="1" name=""/>
        <p:cNvGrpSpPr/>
        <p:nvPr/>
      </p:nvGrpSpPr>
      <p:grpSpPr>
        <a:xfrm>
          <a:off x="0" y="0"/>
          <a:ext cx="0" cy="0"/>
          <a:chOff x="0" y="0"/>
          <a:chExt cx="0" cy="0"/>
        </a:xfrm>
      </p:grpSpPr>
      <p:sp>
        <p:nvSpPr>
          <p:cNvPr id="2" name="Shape 0"/>
          <p:cNvSpPr/>
          <p:nvPr/>
        </p:nvSpPr>
        <p:spPr>
          <a:xfrm>
            <a:off x="5966460" y="2148840"/>
            <a:ext cx="256032" cy="256032"/>
          </a:xfrm>
          <a:prstGeom prst="ellipse">
            <a:avLst/>
          </a:prstGeom>
          <a:solidFill>
            <a:srgbClr val="1FA9A0"/>
          </a:solidFill>
          <a:ln/>
        </p:spPr>
      </p:sp>
      <p:sp>
        <p:nvSpPr>
          <p:cNvPr id="3" name="Text 1"/>
          <p:cNvSpPr txBox="1"/>
          <p:nvPr/>
        </p:nvSpPr>
        <p:spPr>
          <a:xfrm>
            <a:off x="0" y="2606040"/>
            <a:ext cx="12188952" cy="1188720"/>
          </a:xfrm>
          <a:prstGeom prst="rect">
            <a:avLst/>
          </a:prstGeom>
          <a:noFill/>
          <a:ln/>
        </p:spPr>
        <p:txBody>
          <a:bodyPr wrap="square" lIns="0" tIns="0" rIns="0" bIns="0" rtlCol="0" anchor="ctr"/>
          <a:lstStyle/>
          <a:p>
            <a:pPr algn="ctr" indent="0" marL="0">
              <a:buNone/>
            </a:pPr>
            <a:r>
              <a:rPr lang="en-US" sz="8000" b="1" dirty="0">
                <a:solidFill>
                  <a:srgbClr val="FFFFFF"/>
                </a:solidFill>
                <a:latin typeface="Calibri" pitchFamily="34" charset="0"/>
                <a:ea typeface="Calibri" pitchFamily="34" charset="-122"/>
                <a:cs typeface="Calibri" pitchFamily="34" charset="-120"/>
              </a:rPr>
              <a:t>Versa</a:t>
            </a:r>
            <a:endParaRPr lang="en-US" sz="8000" dirty="0"/>
          </a:p>
        </p:txBody>
      </p:sp>
      <p:sp>
        <p:nvSpPr>
          <p:cNvPr id="4" name="Text 2"/>
          <p:cNvSpPr txBox="1"/>
          <p:nvPr/>
        </p:nvSpPr>
        <p:spPr>
          <a:xfrm>
            <a:off x="0" y="3840480"/>
            <a:ext cx="12188952" cy="640080"/>
          </a:xfrm>
          <a:prstGeom prst="rect">
            <a:avLst/>
          </a:prstGeom>
          <a:noFill/>
          <a:ln/>
        </p:spPr>
        <p:txBody>
          <a:bodyPr wrap="square" lIns="0" tIns="0" rIns="0" bIns="0" rtlCol="0" anchor="ctr"/>
          <a:lstStyle/>
          <a:p>
            <a:pPr algn="ctr" indent="0" marL="0">
              <a:buNone/>
            </a:pPr>
            <a:r>
              <a:rPr lang="en-US" sz="2600" dirty="0">
                <a:solidFill>
                  <a:srgbClr val="1FA9A0"/>
                </a:solidFill>
                <a:latin typeface="Calibri" pitchFamily="34" charset="0"/>
                <a:ea typeface="Calibri" pitchFamily="34" charset="-122"/>
                <a:cs typeface="Calibri" pitchFamily="34" charset="-120"/>
              </a:rPr>
              <a:t>A tutor that stops guessing.</a:t>
            </a:r>
            <a:endParaRPr lang="en-US" sz="2600" dirty="0"/>
          </a:p>
        </p:txBody>
      </p:sp>
      <p:sp>
        <p:nvSpPr>
          <p:cNvPr id="5" name="Text 3"/>
          <p:cNvSpPr txBox="1"/>
          <p:nvPr/>
        </p:nvSpPr>
        <p:spPr>
          <a:xfrm>
            <a:off x="0" y="4572000"/>
            <a:ext cx="12188952" cy="457200"/>
          </a:xfrm>
          <a:prstGeom prst="rect">
            <a:avLst/>
          </a:prstGeom>
          <a:noFill/>
          <a:ln/>
        </p:spPr>
        <p:txBody>
          <a:bodyPr wrap="square" lIns="0" tIns="0" rIns="0" bIns="0" rtlCol="0" anchor="ctr"/>
          <a:lstStyle/>
          <a:p>
            <a:pPr algn="ctr" indent="0" marL="0">
              <a:buNone/>
            </a:pPr>
            <a:r>
              <a:rPr lang="en-US" sz="1400" dirty="0">
                <a:solidFill>
                  <a:srgbClr val="AFC0D4"/>
                </a:solidFill>
                <a:latin typeface="Calibri" pitchFamily="34" charset="0"/>
                <a:ea typeface="Calibri" pitchFamily="34" charset="-122"/>
                <a:cs typeface="Calibri" pitchFamily="34" charset="-120"/>
              </a:rPr>
              <a:t>Recognizes uncertainty · Asks one sharp question · Remembers how you think</a:t>
            </a:r>
            <a:endParaRPr lang="en-US" sz="1400" dirty="0"/>
          </a:p>
        </p:txBody>
      </p:sp>
      <p:sp>
        <p:nvSpPr>
          <p:cNvPr id="6" name="Text 4"/>
          <p:cNvSpPr txBox="1"/>
          <p:nvPr/>
        </p:nvSpPr>
        <p:spPr>
          <a:xfrm>
            <a:off x="0" y="5486400"/>
            <a:ext cx="12188952" cy="457200"/>
          </a:xfrm>
          <a:prstGeom prst="rect">
            <a:avLst/>
          </a:prstGeom>
          <a:noFill/>
          <a:ln/>
        </p:spPr>
        <p:txBody>
          <a:bodyPr wrap="square" lIns="0" tIns="0" rIns="0" bIns="0" rtlCol="0" anchor="ctr"/>
          <a:lstStyle/>
          <a:p>
            <a:pPr algn="ctr" indent="0" marL="0">
              <a:buNone/>
            </a:pPr>
            <a:r>
              <a:rPr lang="en-US" sz="1600" b="1" spc="200" kern="0" dirty="0">
                <a:solidFill>
                  <a:srgbClr val="9FB2C9"/>
                </a:solidFill>
                <a:latin typeface="Calibri" pitchFamily="34" charset="0"/>
                <a:ea typeface="Calibri" pitchFamily="34" charset="-122"/>
                <a:cs typeface="Calibri" pitchFamily="34" charset="-120"/>
              </a:rPr>
              <a:t>Thank you</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Versa — Presentation Deck</dc:title>
  <dc:subject>PptxGenJS Presentation</dc:subject>
  <dc:creator>Versa</dc:creator>
  <cp:lastModifiedBy>Versa</cp:lastModifiedBy>
  <cp:revision>1</cp:revision>
  <dcterms:created xsi:type="dcterms:W3CDTF">2026-09-15T18:45:49Z</dcterms:created>
  <dcterms:modified xsi:type="dcterms:W3CDTF">2026-09-15T18:45:49Z</dcterms:modified>
</cp:coreProperties>
</file>